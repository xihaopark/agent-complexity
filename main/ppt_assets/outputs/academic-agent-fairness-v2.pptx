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示意：观测开销会扭曲比较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执行时间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Agent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观测开销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Agent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42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单一成功率不足以支撑公平评测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需要同时报告</c:v>
                </c:pt>
              </c:strCache>
            </c:strRef>
          </c:tx>
          <c:spPr>
            <a:solidFill>
              <a:srgbClr val="DBEAFE"/>
            </a:solidFill>
            <a:ln>
              <a:solidFill>
                <a:srgbClr val="2563EB"/>
              </a:solidFill>
            </a:ln>
          </c:spPr>
          <c:cat>
            <c:strRef>
              <c:f>Sheet1!$A$2:$A$7</c:f>
              <c:strCache>
                <c:ptCount val="6"/>
                <c:pt idx="0">
                  <c:v>success</c:v>
                </c:pt>
                <c:pt idx="1">
                  <c:v>quality</c:v>
                </c:pt>
                <c:pt idx="2">
                  <c:v>cost</c:v>
                </c:pt>
                <c:pt idx="3">
                  <c:v>latency</c:v>
                </c:pt>
                <c:pt idx="4">
                  <c:v>recovery</c:v>
                </c:pt>
                <c:pt idx="5">
                  <c:v>reproducibility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75</c:v>
                </c:pt>
                <c:pt idx="5">
                  <c:v>88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100.0"/>
          <c:min val="0.0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Noto Sans CJK SC"/>
              </a:rPr>
              <a:t>Toward Fair Evaluation of AI Agents on Bioinformatics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SC"/>
              </a:rPr>
              <a:t>为什么需要从“能否完成任务”转向“能否在受控预算下公平地完成真实 workflow”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Noto Sans CJK SC"/>
              </a:rPr>
              <a:t>研究动机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  <a:latin typeface="Noto Sans CJK SC"/>
              </a:defRPr>
            </a:pPr>
            <a:r>
              <a:t>AI agent 已从单轮问答扩展到多步规划、工具调用与环境交互。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  <a:latin typeface="Noto Sans CJK SC"/>
              </a:defRPr>
            </a:pPr>
            <a:r>
              <a:t>生物信息学 workflow 具有长链条、强依赖、文件密集和可复现性敏感等特点。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  <a:latin typeface="Noto Sans CJK SC"/>
              </a:defRPr>
            </a:pPr>
            <a:r>
              <a:t>现有 benchmark 很少同时控制同一 workflow、同一工具权限、同一预算与同一观测口径。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1024128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Noto Sans CJK SC"/>
              </a:rPr>
              <a:t>研究问题</a:t>
            </a:r>
          </a:p>
        </p:txBody>
      </p:sp>
      <p:sp>
        <p:nvSpPr>
          <p:cNvPr id="8" name="Chevron 7"/>
          <p:cNvSpPr/>
          <p:nvPr/>
        </p:nvSpPr>
        <p:spPr>
          <a:xfrm>
            <a:off x="7360920" y="1600200"/>
            <a:ext cx="228600" cy="25603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1417320"/>
            <a:ext cx="1024128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Noto Sans CJK SC"/>
              </a:rPr>
              <a:t>Agent 规划</a:t>
            </a:r>
          </a:p>
        </p:txBody>
      </p:sp>
      <p:sp>
        <p:nvSpPr>
          <p:cNvPr id="10" name="Chevron 9"/>
          <p:cNvSpPr/>
          <p:nvPr/>
        </p:nvSpPr>
        <p:spPr>
          <a:xfrm>
            <a:off x="8549640" y="1600200"/>
            <a:ext cx="228600" cy="25603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1417320"/>
            <a:ext cx="1024128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Noto Sans CJK SC"/>
              </a:rPr>
              <a:t>Workflow 执行</a:t>
            </a:r>
          </a:p>
        </p:txBody>
      </p:sp>
      <p:sp>
        <p:nvSpPr>
          <p:cNvPr id="12" name="Chevron 11"/>
          <p:cNvSpPr/>
          <p:nvPr/>
        </p:nvSpPr>
        <p:spPr>
          <a:xfrm>
            <a:off x="9738360" y="1600200"/>
            <a:ext cx="228600" cy="25603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0" y="1417320"/>
            <a:ext cx="1024128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Noto Sans CJK SC"/>
              </a:rPr>
              <a:t>结果评估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423160"/>
            <a:ext cx="1645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423160"/>
            <a:ext cx="73152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GAIA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62072"/>
            <a:ext cx="1371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466 real-world questions</a:t>
            </a:r>
            <a:br/>
            <a:r>
              <a:t>Human 92%</a:t>
            </a:r>
            <a:br/>
            <a:r>
              <a:t>GPT-4+plugins 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423160"/>
            <a:ext cx="1645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2423160"/>
            <a:ext cx="73152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25603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OSWorld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862072"/>
            <a:ext cx="1371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369 desktop tasks</a:t>
            </a:r>
            <a:br/>
            <a:r>
              <a:t>Human 72.36%</a:t>
            </a:r>
            <a:br/>
            <a:r>
              <a:t>Best model 12.24%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423160"/>
            <a:ext cx="1645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12680" y="2423160"/>
            <a:ext cx="73152" cy="10972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25603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BixBench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62072"/>
            <a:ext cx="1371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53 bioinformatics scenarios</a:t>
            </a:r>
            <a:br/>
            <a:r>
              <a:t>296 questions</a:t>
            </a:r>
            <a:br/>
            <a:r>
              <a:t>focus on multi-step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6052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SC"/>
              </a:rPr>
              <a:t>核心问题：如果不同 agent 在“同一 workflow”上使用不同环境、不同观测方式和不同预算，最终比较结果往往并不公平。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Noto Sans CJK SC"/>
              </a:rPr>
              <a:t>Benchmark Landscape: What Existing Benchmarks Cover, and What They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6492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Noto Sans CJK SC"/>
                        </a:rPr>
                        <a:t>Benchmark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Noto Sans CJK SC"/>
                        </a:rPr>
                        <a:t>主要能力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Noto Sans CJK SC"/>
                        </a:rPr>
                        <a:t>优点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Noto Sans CJK SC"/>
                        </a:rPr>
                        <a:t>对本课题的缺口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GAIA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多步推理 + 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真实世界问题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非 workflow 场景，环境控制弱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SWE-bench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仓库级修复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长链工程任务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偏软件工程，不含数据流水线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WebArena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Web 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可复现网页环境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缺少文件密集型科学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OSWorld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桌面/多应用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真实计算机环境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领域约束弱，生信工具链缺失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BixBench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生信分析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贴近 bioinformatics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Noto Sans CJK SC"/>
                        </a:rPr>
                        <a:t>尚未强调公平的 agent-to-agent 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2360" y="1298448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</a:rPr>
              <a:t>真实性 vs 领域适配度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737360"/>
            <a:ext cx="3657600" cy="2743200"/>
          </a:xfrm>
          <a:prstGeom prst="rect">
            <a:avLst/>
          </a:prstGeom>
          <a:noFill/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79" y="1737360"/>
            <a:ext cx="9144" cy="27432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3108960"/>
            <a:ext cx="36576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79" y="4498848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Noto Sans CJK SC"/>
              </a:rPr>
              <a:t>真实性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39" y="2926080"/>
            <a:ext cx="320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领域适配度</a:t>
            </a:r>
          </a:p>
        </p:txBody>
      </p:sp>
      <p:sp>
        <p:nvSpPr>
          <p:cNvPr id="11" name="Oval 10"/>
          <p:cNvSpPr/>
          <p:nvPr/>
        </p:nvSpPr>
        <p:spPr>
          <a:xfrm>
            <a:off x="8321039" y="3291840"/>
            <a:ext cx="201168" cy="2011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39" y="323697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Noto Sans CJK SC"/>
              </a:rPr>
              <a:t>GAIA</a:t>
            </a:r>
          </a:p>
        </p:txBody>
      </p:sp>
      <p:sp>
        <p:nvSpPr>
          <p:cNvPr id="13" name="Oval 12"/>
          <p:cNvSpPr/>
          <p:nvPr/>
        </p:nvSpPr>
        <p:spPr>
          <a:xfrm>
            <a:off x="9143999" y="2834640"/>
            <a:ext cx="201168" cy="20116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598" y="277977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Noto Sans CJK SC"/>
              </a:rPr>
              <a:t>SWE-bench</a:t>
            </a:r>
          </a:p>
        </p:txBody>
      </p:sp>
      <p:sp>
        <p:nvSpPr>
          <p:cNvPr id="15" name="Oval 14"/>
          <p:cNvSpPr/>
          <p:nvPr/>
        </p:nvSpPr>
        <p:spPr>
          <a:xfrm>
            <a:off x="9875519" y="3200400"/>
            <a:ext cx="201168" cy="20116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19" y="314553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Noto Sans CJK SC"/>
              </a:rPr>
              <a:t>WebArena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79" y="2834640"/>
            <a:ext cx="201168" cy="201168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79" y="277977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Noto Sans CJK SC"/>
              </a:rPr>
              <a:t>OSWorld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79" y="2057400"/>
            <a:ext cx="201168" cy="201168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79" y="200253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Noto Sans CJK SC"/>
              </a:rPr>
              <a:t>BixBench</a:t>
            </a:r>
          </a:p>
        </p:txBody>
      </p:sp>
      <p:sp>
        <p:nvSpPr>
          <p:cNvPr id="21" name="Oval 20"/>
          <p:cNvSpPr/>
          <p:nvPr/>
        </p:nvSpPr>
        <p:spPr>
          <a:xfrm>
            <a:off x="10561319" y="1783080"/>
            <a:ext cx="201168" cy="201168"/>
          </a:xfrm>
          <a:prstGeom prst="ellipse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19" y="1728217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Noto Sans CJK SC"/>
              </a:rPr>
              <a:t>本项目目标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736592"/>
            <a:ext cx="3749039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4736592"/>
            <a:ext cx="73152" cy="114300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873752"/>
            <a:ext cx="3474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175504"/>
            <a:ext cx="34747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现有 benchmark 已覆盖多步推理、代码、Web 与桌面交互，但仍缺少面向 bioinformatics workflow 的公平协议：同任务、同预算、同工具、同日志、同评判。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Noto Sans CJK SC"/>
              </a:rPr>
              <a:t>What Counts as a Fair Comparison?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Noto Sans CJK SC"/>
              </a:rPr>
              <a:t>公平比较的五个控制变量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920240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1691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同一 workflow 目标与输入数据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7373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737360"/>
            <a:ext cx="1920240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9933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359152"/>
            <a:ext cx="1691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同一软件栈、依赖与快照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373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37360"/>
            <a:ext cx="1920240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9933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359152"/>
            <a:ext cx="1691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同一工具权限、检索范围与接口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7373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1737360"/>
            <a:ext cx="1920240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19933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359152"/>
            <a:ext cx="1691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同一 token / 步数 / 时间预算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7373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737360"/>
            <a:ext cx="1920240" cy="201168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8" y="19933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359152"/>
            <a:ext cx="1691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同一日志、I/O 观测与评分口径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069080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9768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Noto Sans CJK SC"/>
              </a:rPr>
              <a:t>Fairness Formula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45152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Noto Sans CJK SC"/>
              </a:rPr>
              <a:t>Fair comparison = Same workflow + Same tools + Same budget + Same observation + Same judge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26187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Noto Sans CJK SC"/>
              </a:rPr>
              <a:t>为什么现有比较经常失真？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737360"/>
            <a:ext cx="46634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观测偏差：额外文件扫描 / 哈希 / tracing 可能改变 wall-clock 结果。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环境偏差：冷启动、缓存命中、conda 激活与依赖检查开销不一致。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提示偏差：隐藏 system prompt 或工具描述长度不同，会改变 token 与效果。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评判偏差：只看最终成功率，忽略重试次数、I/O 开销和失败恢复。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537960" y="3886200"/>
          <a:ext cx="44805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Noto Sans CJK SC"/>
              </a:rPr>
              <a:t>Our Design: From Workflow Decomposition to Standardized Agent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965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554480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Workflow 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664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将 STAR/DESeq2、Kallisto/Sleuth、Varlociraptor 等流程拆成 atomic steps</a:t>
            </a:r>
          </a:p>
        </p:txBody>
      </p:sp>
      <p:sp>
        <p:nvSpPr>
          <p:cNvPr id="8" name="Chevron 7"/>
          <p:cNvSpPr/>
          <p:nvPr/>
        </p:nvSpPr>
        <p:spPr>
          <a:xfrm>
            <a:off x="2651759" y="2377440"/>
            <a:ext cx="2286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417320"/>
            <a:ext cx="1965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27248" y="1554480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Skill 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86000"/>
            <a:ext cx="1664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每个步骤定义目标、输入/输出、依赖关系和完成标准</a:t>
            </a:r>
          </a:p>
        </p:txBody>
      </p:sp>
      <p:sp>
        <p:nvSpPr>
          <p:cNvPr id="13" name="Chevron 12"/>
          <p:cNvSpPr/>
          <p:nvPr/>
        </p:nvSpPr>
        <p:spPr>
          <a:xfrm>
            <a:off x="4892039" y="2377440"/>
            <a:ext cx="2286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1417320"/>
            <a:ext cx="1965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67528" y="1554480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Tool 接口化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286000"/>
            <a:ext cx="1664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把文件系统、执行器、日志观测统一为 agent 可调用接口</a:t>
            </a:r>
          </a:p>
        </p:txBody>
      </p:sp>
      <p:sp>
        <p:nvSpPr>
          <p:cNvPr id="18" name="Chevron 17"/>
          <p:cNvSpPr/>
          <p:nvPr/>
        </p:nvSpPr>
        <p:spPr>
          <a:xfrm>
            <a:off x="7132319" y="2377440"/>
            <a:ext cx="2286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0" y="1417320"/>
            <a:ext cx="1965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07808" y="1554480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受控执行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286000"/>
            <a:ext cx="1664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固定环境、预算与权限，实现 apples-to-apples 对比</a:t>
            </a:r>
          </a:p>
        </p:txBody>
      </p:sp>
      <p:sp>
        <p:nvSpPr>
          <p:cNvPr id="23" name="Chevron 22"/>
          <p:cNvSpPr/>
          <p:nvPr/>
        </p:nvSpPr>
        <p:spPr>
          <a:xfrm>
            <a:off x="9372599" y="2377440"/>
            <a:ext cx="2286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38360" y="1417320"/>
            <a:ext cx="1965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48088" y="1554480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Noto Sans CJK SC"/>
              </a:rPr>
              <a:t>统一评测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286000"/>
            <a:ext cx="1664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记录 success、cost、latency、I/O、恢复与 reproducibility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2519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251960"/>
            <a:ext cx="73152" cy="11887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389120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Why Bioinformatics?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690872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长链条、强依赖、文件密集、环境敏感。workflow manager 能保证可复现，但 agent benchmark 还缺少与之配套的公平评测协议。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2519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4251960"/>
            <a:ext cx="73152" cy="1188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389120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Why Skillization?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690872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skill 让每个步骤的目标、输入输出、完成条件和工具接口都显式化，便于 agent 执行、日志记录与误差归因。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42519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4251960"/>
            <a:ext cx="73152" cy="118872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4389120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Why It Matters?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690872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这样得到的不只是“谁跑通了”，而是“谁在同等约束下更稳定、更省、更可解释”。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Noto Sans CJK SC"/>
              </a:rPr>
              <a:t>Evaluation Metrics and Expected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Task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step-level / end-to-end 完成率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Output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647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结果完整性、约束满足、文件正确性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10058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6304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Token &amp;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647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prompt / completion / tool / judge 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6032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560320"/>
            <a:ext cx="73152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974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Latency &amp;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9923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wall-clock、进程冷启动、I/O 扫描开销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56032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560320"/>
            <a:ext cx="73152" cy="10058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6974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9923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失败诊断、重试次数、回滚能力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56032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560320"/>
            <a:ext cx="73152" cy="100584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6974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99923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Noto Sans CJK SC"/>
              </a:rPr>
              <a:t>同环境复现、一致日志与可审计报告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68680" y="3886200"/>
          <a:ext cx="429768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623560" y="3794760"/>
            <a:ext cx="54864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40233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40AF"/>
                </a:solidFill>
                <a:latin typeface="Noto Sans CJK SC"/>
              </a:rPr>
              <a:t>本项目的预期贡献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462272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提出 workflow-level 的 fair comparison 协议，而不仅是 task-level 对比。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把 bioinformatics workflow 拆解为 skill，使 agent 执行过程可控、可记录、可归因。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Noto Sans CJK SC"/>
              </a:defRPr>
            </a:pPr>
            <a:r>
              <a:t>同时报告 success、quality、token/cost、latency、I/O 与 recovery，形成更完整的 benchmark。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Noto Sans CJK S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