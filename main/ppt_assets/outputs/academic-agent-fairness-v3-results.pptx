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示意：观测开销会扭曲比较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总执行时间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Agent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观测开销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Agent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42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不能只看成功率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需要同时报告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success</c:v>
                </c:pt>
                <c:pt idx="1">
                  <c:v>quality</c:v>
                </c:pt>
                <c:pt idx="2">
                  <c:v>cost</c:v>
                </c:pt>
                <c:pt idx="3">
                  <c:v>latency</c:v>
                </c:pt>
                <c:pt idx="4">
                  <c:v>recovery</c:v>
                </c:pt>
                <c:pt idx="5">
                  <c:v>reproducibility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75</c:v>
                </c:pt>
                <c:pt idx="5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Toward Fair Evaluation of AI Agents on Bioinformatics Workflows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为什么需要从“能否完成任务”转向“能否在受控预算下公平地完成真实 workflow”</a:t>
            </a:r>
            <a:endParaRPr sz="1000" b="0" i="0"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800" b="1" i="0">
                <a:solidFill>
                  <a:srgbClr val="1E40AF"/>
                </a:solidFill>
                <a:latin typeface="Noto Sans CJK SC"/>
              </a:rPr>
              <a:t>研究动机</a:t>
            </a:r>
            <a:endParaRPr sz="1800" b="1" i="0"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656" y="1600200"/>
            <a:ext cx="4983480" cy="2011680"/>
          </a:xfrm>
          <a:prstGeom prst="rect">
            <a:avLst/>
          </a:prstGeom>
          <a:noFill/>
        </p:spPr>
        <p:txBody>
          <a:bodyPr wrap="square" anchor="t" lIns="50800" rIns="25400" tIns="25400" bIns="12700">
            <a:norm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F172A"/>
                </a:solidFill>
                <a:latin typeface="Noto Sans CJK SC"/>
              </a:defRPr>
            </a:pPr>
            <a:r>
              <a:t>AI agent 已从单轮问答扩展到多步规划、工具调用与环境交互。</a:t>
            </a:r>
          </a:p>
          <a:p>
            <a:pPr algn="l">
              <a:spcAft>
                <a:spcPts val="600"/>
              </a:spcAft>
              <a:defRPr sz="1600">
                <a:solidFill>
                  <a:srgbClr val="0F172A"/>
                </a:solidFill>
                <a:latin typeface="Noto Sans CJK SC"/>
              </a:defRPr>
            </a:pPr>
            <a:r>
              <a:t>生物信息学 workflow 具有长链条、强依赖、文件密集和可复现性敏感等特点。</a:t>
            </a:r>
          </a:p>
          <a:p>
            <a:pPr algn="l">
              <a:spcAft>
                <a:spcPts val="600"/>
              </a:spcAft>
              <a:defRPr sz="1600">
                <a:solidFill>
                  <a:srgbClr val="0F172A"/>
                </a:solidFill>
                <a:latin typeface="Noto Sans CJK SC"/>
              </a:defRPr>
            </a:pPr>
            <a:r>
              <a:t>现有 benchmark 很少同时控制同一 workflow、同一工具权限、同一预算与同一观测口径。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研究问题</a:t>
            </a:r>
            <a:endParaRPr sz="1100" b="1" i="0">
              <a:latin typeface="Noto Sans CJK SC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7159752" y="1490472"/>
            <a:ext cx="201168" cy="21945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Agent 规划</a:t>
            </a:r>
            <a:endParaRPr sz="1100" b="1" i="0">
              <a:latin typeface="Noto Sans CJK SC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8485632" y="1490472"/>
            <a:ext cx="201168" cy="21945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Workflow 执行</a:t>
            </a:r>
            <a:endParaRPr sz="1100" b="1" i="0">
              <a:latin typeface="Noto Sans CJK SC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9811512" y="1490472"/>
            <a:ext cx="201168" cy="21945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399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结果评估</a:t>
            </a:r>
            <a:endParaRPr sz="1100" b="1" i="0"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2194560"/>
            <a:ext cx="1783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73152" cy="12984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286000"/>
            <a:ext cx="15270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GAIA</a:t>
            </a:r>
            <a:endParaRPr sz="1300" b="1" i="0"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1072" y="2596896"/>
            <a:ext cx="1527048" cy="8046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466 real-world questions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Human 92%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GPT-4+plugins 15%</a:t>
            </a:r>
            <a:endParaRPr sz="1000" b="0" i="0"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0" y="2194560"/>
            <a:ext cx="1783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94560"/>
            <a:ext cx="73152" cy="12984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86000"/>
            <a:ext cx="15270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OSWorld</a:t>
            </a:r>
            <a:endParaRPr sz="1300" b="1" i="0"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1312" y="2596896"/>
            <a:ext cx="1527048" cy="8046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369 desktop tasks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Human 72.36%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Best model 12.24%</a:t>
            </a:r>
            <a:endParaRPr sz="1000" b="0" i="0">
              <a:latin typeface="Noto Sans CJK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966960" y="2194560"/>
            <a:ext cx="160020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2194560"/>
            <a:ext cx="73152" cy="129844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2286000"/>
            <a:ext cx="13441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BixBench</a:t>
            </a:r>
            <a:endParaRPr sz="1300" b="1" i="0"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31552" y="2596896"/>
            <a:ext cx="1344168" cy="8046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53 bioinformatics scenarios</a:t>
            </a:r>
            <a:br>
              <a:rPr sz="900" b="0" i="0">
                <a:latin typeface="Noto Sans CJK SC"/>
              </a:rPr>
            </a:br>
            <a:r>
              <a:rPr sz="900" b="0" i="0">
                <a:latin typeface="Noto Sans CJK SC"/>
              </a:rPr>
              <a:t>296 questions</a:t>
            </a:r>
            <a:br>
              <a:rPr sz="900" b="0" i="0">
                <a:latin typeface="Noto Sans CJK SC"/>
              </a:rPr>
            </a:br>
            <a:r>
              <a:rPr sz="900" b="0" i="0">
                <a:latin typeface="Noto Sans CJK SC"/>
              </a:rPr>
              <a:t>multi-step analysis</a:t>
            </a:r>
            <a:endParaRPr sz="900" b="0" i="0"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3232" y="4069080"/>
            <a:ext cx="10927080" cy="1353312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oto Sans CJK SC"/>
              </a:rPr>
              <a:t>核心问题：如果不同 agent 在“同一 workflow”上使用不同环境、不同观测方式和不同预算，最终比较结果往往并不公平。</a:t>
            </a:r>
            <a:endParaRPr sz="1800" b="1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1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Benchmark Landscape: What Existing Benchmarks Cover and What They Miss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07008"/>
          <a:ext cx="65379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17320"/>
                <a:gridCol w="2560320"/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Benchmark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主要能力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优点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缺口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GAIA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多步推理 + 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真实世界问题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非 workflow 场景，环境控制弱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SWE-bench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仓库级修复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长链工程任务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偏软件工程，不含数据流水线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WebArena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Web 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可复现网页环境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缺少文件密集型科学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OSWorld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桌面/多应用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真实计算机环境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领域约束弱，生信工具链缺失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BixBench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生信分析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贴近 bioinformatics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尚未强调公平的 agent-to-agent 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60920" y="1280160"/>
            <a:ext cx="384048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Noto Sans CJK SC"/>
              </a:rPr>
              <a:t>真实性 vs 领域适配度</a:t>
            </a:r>
            <a:endParaRPr sz="1400" b="1" i="0">
              <a:latin typeface="Noto Sans CJK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06640" y="1691640"/>
            <a:ext cx="3749039" cy="2606040"/>
          </a:xfrm>
          <a:prstGeom prst="rect">
            <a:avLst/>
          </a:prstGeom>
          <a:noFill/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59" y="1691640"/>
            <a:ext cx="9144" cy="2606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2994660"/>
            <a:ext cx="3749039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4325112"/>
            <a:ext cx="1280160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Noto Sans CJK SC"/>
              </a:rPr>
              <a:t>真实性</a:t>
            </a:r>
            <a:endParaRPr sz="900" b="0" i="0"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0920" y="2697480"/>
            <a:ext cx="4114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Noto Sans CJK SC"/>
              </a:rPr>
              <a:t>领域</a:t>
            </a:r>
            <a:br>
              <a:rPr sz="900" b="0" i="0">
                <a:latin typeface="Noto Sans CJK SC"/>
              </a:rPr>
            </a:br>
            <a:r>
              <a:rPr sz="900" b="0" i="0">
                <a:latin typeface="Noto Sans CJK SC"/>
              </a:rPr>
              <a:t>适配度</a:t>
            </a:r>
            <a:endParaRPr sz="900" b="0" i="0">
              <a:latin typeface="Noto Sans CJK SC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0" y="3273552"/>
            <a:ext cx="182880" cy="182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2783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GAIA</a:t>
            </a:r>
            <a:endParaRPr sz="800" b="0" i="0">
              <a:latin typeface="Noto Sans CJK SC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052560" y="2816352"/>
            <a:ext cx="182880" cy="1828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77063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SWE-bench</a:t>
            </a:r>
            <a:endParaRPr sz="800" b="0" i="0">
              <a:latin typeface="Noto Sans CJK SC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738360" y="3182112"/>
            <a:ext cx="182880" cy="18288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3136391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WebArena</a:t>
            </a:r>
            <a:endParaRPr sz="800" b="0" i="0">
              <a:latin typeface="Noto Sans CJK SC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149840" y="2816352"/>
            <a:ext cx="182880" cy="18288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77063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OSWorld</a:t>
            </a:r>
            <a:endParaRPr sz="800" b="0" i="0">
              <a:latin typeface="Noto Sans CJK SC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149840" y="2130552"/>
            <a:ext cx="182880" cy="182880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084831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BixBench</a:t>
            </a:r>
            <a:endParaRPr sz="800" b="0" i="0">
              <a:latin typeface="Noto Sans CJK SC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378440" y="1874520"/>
            <a:ext cx="182880" cy="182880"/>
          </a:xfrm>
          <a:prstGeom prst="ellipse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1828799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本项目目标</a:t>
            </a:r>
            <a:endParaRPr sz="800" b="0" i="0"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0" y="4572000"/>
            <a:ext cx="391363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572000"/>
            <a:ext cx="73152" cy="123444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4663440"/>
            <a:ext cx="36576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结论</a:t>
            </a:r>
            <a:endParaRPr sz="1300" b="1" i="0"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9792" y="4974336"/>
            <a:ext cx="3657600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现有 benchmark 已覆盖多步推理、代码、Web 与桌面交互，但仍缺少面向 bioinformatics workflow 的公平协议：同任务、同预算、同工具、同日志、同评判。</a:t>
            </a:r>
            <a:endParaRPr sz="1000" b="0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2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What Counts as a Fair Comparison?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475488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Noto Sans CJK SC"/>
              </a:rPr>
              <a:t>公平比较的五个控制变量</a:t>
            </a:r>
            <a:endParaRPr sz="1600" b="1" i="0"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0020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Task</a:t>
            </a:r>
            <a:endParaRPr sz="1300" b="1" i="0"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200253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 workflow 目标与输入数据</a:t>
            </a:r>
            <a:endParaRPr sz="1000" b="0" i="0"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160020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60020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69164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Environment</a:t>
            </a:r>
            <a:endParaRPr sz="1300" b="1" i="0"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99232" y="200253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同一软件栈、依赖与快照</a:t>
            </a:r>
            <a:endParaRPr sz="1000" b="0" i="0">
              <a:latin typeface="Noto Sans CJK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" y="278892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78892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88036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Tools</a:t>
            </a:r>
            <a:endParaRPr sz="1300" b="1" i="0"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" y="319125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同一工具权限、检索范围与接口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78892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78892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88036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Budget</a:t>
            </a:r>
            <a:endParaRPr sz="1300" b="1" i="0"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9232" y="319125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 token / 步数 / 时间预算</a:t>
            </a:r>
            <a:endParaRPr sz="1000" b="0" i="0"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773936" y="3977639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73936" y="3977639"/>
            <a:ext cx="73152" cy="932688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4069079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Observation</a:t>
            </a:r>
            <a:endParaRPr sz="1300" b="1" i="0"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38528" y="4379975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同一日志、I/O 观测与评分口径</a:t>
            </a:r>
            <a:endParaRPr sz="1000" b="0" i="0"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13232" y="5138928"/>
            <a:ext cx="4069080" cy="65836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Fair comparison = same task + tools + budget + observation + judge</a:t>
            </a:r>
            <a:endParaRPr sz="1200" b="1" i="0"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1225296"/>
            <a:ext cx="493776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Noto Sans CJK SC"/>
              </a:rPr>
              <a:t>为什么现有比较经常失真？</a:t>
            </a:r>
            <a:endParaRPr sz="1600" b="1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19088" y="1572768"/>
            <a:ext cx="4709160" cy="2240280"/>
          </a:xfrm>
          <a:prstGeom prst="rect">
            <a:avLst/>
          </a:prstGeom>
          <a:noFill/>
        </p:spPr>
        <p:txBody>
          <a:bodyPr wrap="square" anchor="t" lIns="50800" rIns="25400" tIns="25400" bIns="12700">
            <a:no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观测偏差：额外文件扫描 / 哈希 / tracing 可能改变 wall-clock 结果。</a:t>
            </a:r>
            <a:endParaRPr sz="1400" b="0" i="0">
              <a:latin typeface="Noto Sans CJK SC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环境偏差：冷启动、缓存命中、conda 激活与依赖检查开销不一致。</a:t>
            </a:r>
            <a:endParaRPr sz="1400" b="0" i="0">
              <a:latin typeface="Noto Sans CJK SC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提示偏差：隐藏 system prompt 或工具描述长度不同，会改变 token 与效果。</a:t>
            </a:r>
            <a:endParaRPr sz="1400" b="0" i="0">
              <a:latin typeface="Noto Sans CJK SC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评判偏差：只看最终成功率，忽略重试次数、I/O 开销和失败恢复。</a:t>
            </a:r>
            <a:endParaRPr sz="1400" b="0" i="0">
              <a:latin typeface="Noto Sans CJK SC"/>
            </a:endParaRP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473952" y="4160520"/>
          <a:ext cx="443484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3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Our Design: Workflow Decomposition, Skillization, and Standardized Execution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1</a:t>
            </a:r>
            <a:endParaRPr sz="1000" b="1" i="0"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Workflow 拆解</a:t>
            </a:r>
            <a:endParaRPr sz="1200" b="1" i="0"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Noto Sans CJK SC"/>
              </a:rPr>
              <a:t>将 STAR/DESeq2、Kallisto/Sleuth、Varlociraptor 等流程拆成 atomic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1353312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40" y="1463040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2</a:t>
            </a:r>
            <a:endParaRPr sz="1000" b="1" i="0"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9040" y="1755648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Skill 封装</a:t>
            </a:r>
            <a:endParaRPr sz="1200" b="1" i="0"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9040" y="2066544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Noto Sans CJK SC"/>
              </a:rPr>
              <a:t>为每个步骤定义目标、输入/输出、依赖关系和完成标准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353312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1463040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3</a:t>
            </a:r>
            <a:endParaRPr sz="1000" b="1" i="0"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1755648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Tool 接口化</a:t>
            </a:r>
            <a:endParaRPr sz="1200" b="1" i="0"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2066544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把文件系统、执行器、日志观测统一为 agent 可调用接口</a:t>
            </a:r>
            <a:endParaRPr sz="900" b="0" i="0"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76272" y="31089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3218688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4</a:t>
            </a:r>
            <a:endParaRPr sz="1000" b="1" i="0"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511296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受控执行</a:t>
            </a:r>
            <a:endParaRPr sz="1200" b="1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86000" y="3822192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固定环境、预算与权限，实现 apples-to-apples 对比</a:t>
            </a:r>
            <a:endParaRPr sz="900" b="0" i="0"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02352" y="31089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0" y="3218688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5</a:t>
            </a:r>
            <a:endParaRPr sz="1000" b="1" i="0"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80" y="3511296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统一评测</a:t>
            </a:r>
            <a:endParaRPr sz="1200" b="1" i="0"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80" y="3822192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记录 success、cost、latency、I/O、恢复与 reproducibility</a:t>
            </a:r>
            <a:endParaRPr sz="900" b="0" i="0">
              <a:latin typeface="Noto Sans CJK SC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3255264" y="1874519"/>
            <a:ext cx="237744" cy="16459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6181344" y="1874519"/>
            <a:ext cx="237744" cy="16459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3401568" y="2761488"/>
            <a:ext cx="201168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6327648" y="2761488"/>
            <a:ext cx="201168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828032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828032"/>
            <a:ext cx="73152" cy="9875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919472"/>
            <a:ext cx="31272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Why Bioinformatics?</a:t>
            </a:r>
            <a:endParaRPr sz="1300" b="1" i="0"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2" y="5230368"/>
            <a:ext cx="3127248" cy="49377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长链条、强依赖、文件密集、环境敏感。workflow manager 能保证可复现，但 agent benchmark 仍缺少配套的公平评测协议。</a:t>
            </a:r>
            <a:endParaRPr sz="900" b="0" i="0"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407408" y="4828032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4828032"/>
            <a:ext cx="73152" cy="9875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919472"/>
            <a:ext cx="31272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Why Skillization?</a:t>
            </a:r>
            <a:endParaRPr sz="1300" b="1" i="0"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0" y="5230368"/>
            <a:ext cx="3127248" cy="49377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skill 让每个步骤的目标、输入输出、完成条件和工具接口都显式化，便于 agent 执行、日志记录与误差归因。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4828032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1856" y="4828032"/>
            <a:ext cx="73152" cy="987552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919472"/>
            <a:ext cx="31272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Why It Matters?</a:t>
            </a:r>
            <a:endParaRPr sz="1300" b="1" i="0">
              <a:latin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56448" y="5230368"/>
            <a:ext cx="3127248" cy="49377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这样得到的不只是“谁跑通了”，而是“谁在同等约束下更稳定、更省、更可解释”。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4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Evaluation Metrics and Expected Contributions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80160"/>
            <a:ext cx="73152" cy="8412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Task success</a:t>
            </a:r>
            <a:endParaRPr sz="1200" b="1" i="0"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step-level / end-to-end 完成率</a:t>
            </a:r>
            <a:endParaRPr sz="1000" b="0" i="0"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2544" y="1280160"/>
            <a:ext cx="73152" cy="8412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71600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Output quality</a:t>
            </a:r>
            <a:endParaRPr sz="1200" b="1" i="0"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1682496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结果完整性、约束满足、文件正确性</a:t>
            </a:r>
            <a:endParaRPr sz="1000" b="0" i="0"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73152" cy="84124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71600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Token &amp; cost</a:t>
            </a:r>
            <a:endParaRPr sz="1200" b="1" i="0"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1682496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prompt / completion / tool / judge 成本</a:t>
            </a:r>
            <a:endParaRPr sz="1000" b="0" i="0"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2359152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359152"/>
            <a:ext cx="73152" cy="84124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50592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Latency &amp; I/O</a:t>
            </a:r>
            <a:endParaRPr sz="1200" b="1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2761488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wall-clock、冷启动、I/O 扫描开销</a:t>
            </a:r>
            <a:endParaRPr sz="1000" b="0" i="0"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52544" y="2359152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59152"/>
            <a:ext cx="73152" cy="84124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450592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Recovery</a:t>
            </a:r>
            <a:endParaRPr sz="1200" b="1" i="0"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761488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失败诊断、重试次数、回滚能力</a:t>
            </a:r>
            <a:endParaRPr sz="1000" b="0" i="0"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46720" y="2359152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359152"/>
            <a:ext cx="73152" cy="841248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2450592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Reproducibility</a:t>
            </a:r>
            <a:endParaRPr sz="1200" b="1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1312" y="2761488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同环境复现、一致日志与可审计报告</a:t>
            </a:r>
            <a:endParaRPr sz="1000" b="0" i="0">
              <a:latin typeface="Noto Sans CJK SC"/>
            </a:endParaRP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4672" y="3749039"/>
          <a:ext cx="443484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504688" y="3611880"/>
            <a:ext cx="557784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3803904"/>
            <a:ext cx="493776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Noto Sans CJK SC"/>
              </a:rPr>
              <a:t>本项目的预期贡献</a:t>
            </a:r>
            <a:endParaRPr sz="1600" b="1" i="0"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50992" y="4169663"/>
            <a:ext cx="5074920" cy="1463040"/>
          </a:xfrm>
          <a:prstGeom prst="rect">
            <a:avLst/>
          </a:prstGeom>
          <a:noFill/>
        </p:spPr>
        <p:txBody>
          <a:bodyPr wrap="square" anchor="t" lIns="50800" rIns="25400" tIns="25400" bIns="12700">
            <a:noAutofit/>
          </a:bodyPr>
          <a:lstStyle/>
          <a:p>
            <a:pPr algn="l">
              <a:spcAft>
                <a:spcPts val="600"/>
              </a:spcAft>
              <a:defRPr sz="1320">
                <a:solidFill>
                  <a:srgbClr val="0F172A"/>
                </a:solidFill>
                <a:latin typeface="Noto Sans CJK SC"/>
              </a:defRPr>
            </a:pPr>
            <a:r>
              <a:rPr sz="1300" b="0" i="0">
                <a:latin typeface="Noto Sans CJK SC"/>
              </a:rPr>
              <a:t>提出 workflow-level 的 fair comparison 协议，而不仅是 task-level 对比。</a:t>
            </a:r>
            <a:endParaRPr sz="1300" b="0" i="0">
              <a:latin typeface="Noto Sans CJK SC"/>
            </a:endParaRPr>
          </a:p>
          <a:p>
            <a:pPr algn="l">
              <a:spcAft>
                <a:spcPts val="600"/>
              </a:spcAft>
              <a:defRPr sz="1320">
                <a:solidFill>
                  <a:srgbClr val="0F172A"/>
                </a:solidFill>
                <a:latin typeface="Noto Sans CJK SC"/>
              </a:defRPr>
            </a:pPr>
            <a:r>
              <a:rPr sz="1300" b="0" i="0">
                <a:latin typeface="Noto Sans CJK SC"/>
              </a:rPr>
              <a:t>把 bioinformatics workflow 拆解为 skill，使 agent 执行过程可控、可记录、可归因。</a:t>
            </a:r>
            <a:endParaRPr sz="1300" b="0" i="0">
              <a:latin typeface="Noto Sans CJK SC"/>
            </a:endParaRPr>
          </a:p>
          <a:p>
            <a:pPr algn="l">
              <a:spcAft>
                <a:spcPts val="600"/>
              </a:spcAft>
              <a:defRPr sz="1320">
                <a:solidFill>
                  <a:srgbClr val="0F172A"/>
                </a:solidFill>
                <a:latin typeface="Noto Sans CJK SC"/>
              </a:defRPr>
            </a:pPr>
            <a:r>
              <a:rPr sz="1300" b="0" i="0">
                <a:latin typeface="Noto Sans CJK SC"/>
              </a:rPr>
              <a:t>同时报告 success、quality、token/cost、latency、I/O 与 recovery，形成更完整的 benchmark。</a:t>
            </a:r>
            <a:endParaRPr sz="1300" b="0" i="0"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5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全部 Workflow 最终结果总览：Direct vs Agent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按每个 workflow 的最新一次运行汇总；成功与失败同时展示，失败原因另页展开</a:t>
            </a:r>
            <a:endParaRPr sz="1000" b="0" i="0">
              <a:latin typeface="Noto Sans CJK SC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261872"/>
          <a:ext cx="9473183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143000"/>
                <a:gridCol w="658368"/>
                <a:gridCol w="658368"/>
                <a:gridCol w="868680"/>
                <a:gridCol w="868680"/>
                <a:gridCol w="749808"/>
                <a:gridCol w="960120"/>
                <a:gridCol w="868680"/>
                <a:gridCol w="82296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Workflow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Latest Run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Direct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Agent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Direct(s)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Agent(s)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Delta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Tokens(calls)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Cost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oto Sans CJK SC"/>
                        </a:rPr>
                        <a:t>Coverage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20260408T080248Z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2209.9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2421.2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+9.6%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5543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$0.0051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20260408T091959Z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1877.5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2027.0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+8.0%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5553 (2)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$0.0048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1.00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20260408T072803Z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429.9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658.0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+53.0%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5145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$0.0050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Template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20260408T042317Z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88.9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229.9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+158.7%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4472 (2)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$0.0050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1.00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Zarp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20260408T102511Z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659.6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1023.5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DC2626"/>
                          </a:solidFill>
                          <a:latin typeface="Noto Sans CJK SC"/>
                        </a:rPr>
                        <a:t>+55.2%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4289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$0.0041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0F172A"/>
                          </a:solidFill>
                          <a:latin typeface="Noto Sans CJK SC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06908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06908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总体观察 1</a:t>
            </a:r>
            <a:endParaRPr sz="1300" b="1" i="0"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471416"/>
            <a:ext cx="3401568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Noto Sans CJK SC"/>
              </a:rPr>
              <a:t>4 个 workflow 已成功收敛：Template、STAR+DESeq2、Varlociraptor、Kallisto+Sleuth；当前仅 Zarp 仍失败。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406908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4069080"/>
            <a:ext cx="73152" cy="1234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6052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总体观察 2</a:t>
            </a:r>
            <a:endParaRPr sz="1300" b="1" i="0"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4471416"/>
            <a:ext cx="3401568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成功 workflow 中，Agent 总体 wall-clock 仍慢于 Direct，但 token/cost 保持在较窄区间（约 4k-5.5k tokens）。</a:t>
            </a:r>
            <a:endParaRPr sz="1000" b="0" i="0"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5008" y="406908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4069080"/>
            <a:ext cx="73152" cy="123444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总体观察 3</a:t>
            </a:r>
            <a:endParaRPr sz="1300" b="1" i="0"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4471416"/>
            <a:ext cx="3401568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失败 workflow 需要单独分析根因：早期多失败于 prepare_references / trimming，最新失败集中在 Zarp 的 finish_target。</a:t>
            </a:r>
            <a:endParaRPr sz="1000" b="0" i="0"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6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Step-level 结果：成功 Workflow 的内部步骤对比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展示 4 个已成功 workflow 的 step_id、耗时与 step-level tokens；采用 2×2 网格避免遮挡</a:t>
            </a:r>
            <a:endParaRPr sz="1000" b="0" i="0"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1234440"/>
            <a:ext cx="553212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  <a:latin typeface="Noto Sans CJK SC"/>
              </a:rPr>
              <a:t>DNA-seq Varlociraptor</a:t>
            </a:r>
            <a:endParaRPr sz="1100" b="1" i="0">
              <a:latin typeface="Noto Sans CJK SC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545336"/>
          <a:ext cx="52120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960120"/>
                <a:gridCol w="1005840"/>
              </a:tblGrid>
              <a:tr h="176784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Time(s)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Tokens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validate_config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inspect_inputs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70.7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5299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prepare_references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49.5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prepare_reads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349.8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71.5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candidate_calling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201.3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evidence_build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202.9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calling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490.2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annotation_filtering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569.2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delivery_report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259.4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Total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2264.5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5812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36208" y="1234440"/>
            <a:ext cx="553212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  <a:latin typeface="Noto Sans CJK SC"/>
              </a:rPr>
              <a:t>RNA-seq Kallisto+Sleuth</a:t>
            </a:r>
            <a:endParaRPr sz="1100" b="1" i="0">
              <a:latin typeface="Noto Sans CJK SC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6208" y="1545336"/>
          <a:ext cx="52120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960120"/>
                <a:gridCol w="1005840"/>
              </a:tblGrid>
              <a:tr h="192855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Time(s)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Tokens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validate_config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normalize_inputs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77.6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5933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prepare_references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prepare_reads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38.3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quantify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69.7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init_sleuth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1316.6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differential_expression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213.3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optional_modules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71.5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92855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delivery_report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102.1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8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Total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1950.2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6393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3822191"/>
            <a:ext cx="553212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  <a:latin typeface="Noto Sans CJK SC"/>
              </a:rPr>
              <a:t>RNA-seq STAR+DESeq2</a:t>
            </a:r>
            <a:endParaRPr sz="1100" b="1" i="0">
              <a:latin typeface="Noto Sans CJK SC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4133087"/>
          <a:ext cx="52120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960120"/>
                <a:gridCol w="1005840"/>
              </a:tblGrid>
              <a:tr h="235712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Time(s)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Tokens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trimming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alignment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35.2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4316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rseqc_qc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155.2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multiqc_report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200.3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count_matrix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195.5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differential_expression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68.3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pca_plot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712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Total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654.6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4808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36208" y="3822191"/>
            <a:ext cx="553212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  <a:latin typeface="Noto Sans CJK SC"/>
              </a:rPr>
              <a:t>Template</a:t>
            </a:r>
            <a:endParaRPr sz="1100" b="1" i="0">
              <a:latin typeface="Noto Sans CJK SC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6208" y="4133087"/>
          <a:ext cx="52120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960120"/>
                <a:gridCol w="1005840"/>
              </a:tblGrid>
              <a:tr h="303058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Time(s)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Noto Sans CJK SC"/>
                        </a:rPr>
                        <a:t>Tokens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validate_config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prepare_reference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30.1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7E22CE"/>
                          </a:solidFill>
                          <a:latin typeface="Noto Sans CJK SC"/>
                        </a:rPr>
                        <a:t>3206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simulate_reads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70.5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fastqc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43.4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multiqc_report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84.1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06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Total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228.2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Noto Sans CJK SC"/>
                        </a:rPr>
                        <a:t>3765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236208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观察：成功 workflow 的 token 主要集中在后段的汇总/报告相关步骤；step-level wall-clock 则更受 workflow 本身工具链长度影响。</a:t>
            </a:r>
            <a:endParaRPr sz="900" b="0" i="0"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7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失败 Workflow / 失败运行：原因单独说明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列出失败步骤与主要报错；区分“后续已修复成功”和“当前仍未成功”的情况</a:t>
            </a:r>
            <a:endParaRPr sz="1000" b="0" i="0">
              <a:latin typeface="Noto Sans CJK SC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3258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965960"/>
                <a:gridCol w="1097280"/>
                <a:gridCol w="1325880"/>
                <a:gridCol w="1325880"/>
                <a:gridCol w="2240280"/>
                <a:gridCol w="224028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Run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Workflow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Current State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Direct Fail 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Agent Fail 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Direct Cause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60">
                          <a:solidFill>
                            <a:srgbClr val="FFFFFF"/>
                          </a:solidFill>
                          <a:latin typeface="Noto Sans CJK SC"/>
                        </a:rPr>
                        <a:t>Agent Cause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20260408T074619Z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16A34A"/>
                          </a:solidFill>
                          <a:latin typeface="Noto Sans CJK SC"/>
                        </a:rPr>
                        <a:t>已修复成功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20260408T074927Z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16A34A"/>
                          </a:solidFill>
                          <a:latin typeface="Noto Sans CJK SC"/>
                        </a:rPr>
                        <a:t>已修复成功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20260408T075242Z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Zarp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DC2626"/>
                          </a:solidFill>
                          <a:latin typeface="Noto Sans CJK SC"/>
                        </a:rPr>
                        <a:t>仍失败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20260408T102511Z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Zarp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DC2626"/>
                          </a:solidFill>
                          <a:latin typeface="Noto Sans CJK SC"/>
                        </a:rPr>
                        <a:t>仍失败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0F172A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0352" y="480060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4800600"/>
            <a:ext cx="73152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89204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失败类型 A：前置准备阶段</a:t>
            </a:r>
            <a:endParaRPr sz="1300" b="1" i="0"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5202936"/>
            <a:ext cx="3401568" cy="5577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Varlociraptor / Kallisto 早期失败均集中在 prepare_references，属于参考准备阶段的 nested workflow failure。</a:t>
            </a:r>
            <a:endParaRPr sz="1000" b="0" i="0">
              <a:latin typeface="Noto Sans CJK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15968" y="480060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4800600"/>
            <a:ext cx="73152" cy="10515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89204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失败类型 B：中间处理阶段</a:t>
            </a:r>
            <a:endParaRPr sz="1300" b="1" i="0"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5202936"/>
            <a:ext cx="3401568" cy="5577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Zarp 首次失败在 trimming，说明 read preprocessing 仍是该 workflow 的脆弱点。</a:t>
            </a:r>
            <a:endParaRPr sz="1000" b="0" i="0"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01583" y="480060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4800600"/>
            <a:ext cx="73152" cy="105156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489204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失败类型 C：最终交付阶段</a:t>
            </a:r>
            <a:endParaRPr sz="1300" b="1" i="0"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5" y="5202936"/>
            <a:ext cx="3401568" cy="5577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Zarp 最新失败推进到 finish_target，说明前段已打通，但 final packaging / report aggregation 仍未稳定。</a:t>
            </a:r>
            <a:endParaRPr sz="1000" b="0" i="0"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8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新增实验：Renzo vs 4 个 Peer Agents（Agent-only）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Run root: 20260408_formal • 生成于 2026-04-09T03:25:31.445113+00:00</a:t>
            </a:r>
            <a:endParaRPr sz="1000" b="0" i="0">
              <a:latin typeface="Noto Sans CJK SC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261872"/>
          <a:ext cx="11430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700784"/>
                <a:gridCol w="1700784"/>
                <a:gridCol w="1700784"/>
                <a:gridCol w="1700784"/>
                <a:gridCol w="1700784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Workflow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biomni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dswizard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renzo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stella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tooluniverse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6A34A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Template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Zarp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C2626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06908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06908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要点</a:t>
            </a:r>
            <a:endParaRPr sz="1300" b="1" i="0"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471416"/>
            <a:ext cx="3401568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60" b="0">
                <a:solidFill>
                  <a:srgbClr val="475569"/>
                </a:solidFill>
                <a:latin typeface="Noto Sans CJK SC"/>
              </a:rPr>
              <a:t>Peer agents 与 Renzo 并排运行 workflow；执行引擎一致，差异主要来自编排/选步策略与框架行为。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406908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4069080"/>
            <a:ext cx="73152" cy="12344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6052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失败集中</a:t>
            </a:r>
            <a:endParaRPr sz="1300" b="1" i="0"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4471416"/>
            <a:ext cx="3401568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snakemake-workflow-template 与 zarp 的失败属于环境/磁盘资源问题（conda env 创建失败），与 agent 策略无关。</a:t>
            </a:r>
            <a:endParaRPr sz="1000" b="0" i="0"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5008" y="406908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4069080"/>
            <a:ext cx="73152" cy="123444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34015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指标说明</a:t>
            </a:r>
            <a:endParaRPr sz="1300" b="1" i="0"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4471416"/>
            <a:ext cx="3401568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token/cost 对 Biomni/STELLA 可能缺失（真实框架未回传 usage）；latency 采用 process wall-time。</a:t>
            </a:r>
            <a:endParaRPr sz="1000" b="0" i="0"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9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Peer Agents 指标：时长 / LLM 调用次数 / Tokens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单位：时长=mm:ss；tokens/cost 仅在可用时统计</a:t>
            </a:r>
            <a:endParaRPr sz="1000" b="0" i="0">
              <a:latin typeface="Noto Sans CJK SC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261872"/>
          <a:ext cx="84124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822960"/>
                <a:gridCol w="822960"/>
                <a:gridCol w="1005840"/>
                <a:gridCol w="1005840"/>
                <a:gridCol w="1005840"/>
              </a:tblGrid>
              <a:tr h="287767"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Workflow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Agent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Status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Time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LLM calls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Tokens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19">
                          <a:solidFill>
                            <a:srgbClr val="FFFFFF"/>
                          </a:solidFill>
                          <a:latin typeface="Noto Sans CJK SC"/>
                        </a:rPr>
                        <a:t>Cost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biomni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84:32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dswizard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84:32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3288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renzo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49:07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5457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stella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84:32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DNA-seq Varlociraptor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tooluniverse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84:32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biomni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DC2626"/>
                          </a:solidFill>
                          <a:latin typeface="Noto Sans CJK SC"/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7:23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dswizard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46:01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renzo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49:01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5772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stella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DC2626"/>
                          </a:solidFill>
                          <a:latin typeface="Noto Sans CJK SC"/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8:07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Kallisto+Sleuth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tooluniverse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46:04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2038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biomni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12:39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dswizard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13:30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2583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renzo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16:14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5216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stella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DC2626"/>
                          </a:solidFill>
                          <a:latin typeface="Noto Sans CJK SC"/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3:17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776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RNA-seq STAR+DESeq2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tooluniverse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6A34A"/>
                          </a:solidFill>
                          <a:latin typeface="Noto Sans CJK SC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15:03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5652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7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Template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biomni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DC2626"/>
                          </a:solidFill>
                          <a:latin typeface="Noto Sans CJK SC"/>
                        </a:rPr>
                        <a:t>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2:29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Noto Sans CJK SC"/>
                        </a:rPr>
                        <a:t>$0.0000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10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根因：为什么 Template / Zarp 会全失败？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共因：conda env provisioning 时磁盘空间耗尽 (NoSpaceLeftError)</a:t>
            </a:r>
            <a:endParaRPr sz="1000" b="0" i="0"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73152" cy="10515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8996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解释</a:t>
            </a:r>
            <a:endParaRPr sz="1300" b="1" i="0"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819656"/>
            <a:ext cx="10899648" cy="5577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Noto Sans CJK SC"/>
              </a:rPr>
              <a:t>失败发生在 Snakemake 创建 conda env（基于 envs/*.yaml）阶段；由于缓存/conda 前缀占满磁盘，导致 token 文件写入失败。</a:t>
            </a:r>
            <a:endParaRPr sz="1100" b="0" i="0"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504688"/>
            <a:ext cx="11155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504688"/>
            <a:ext cx="73152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96128"/>
            <a:ext cx="108996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建议</a:t>
            </a:r>
            <a:endParaRPr sz="1300" b="1" i="0"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907024"/>
            <a:ext cx="10899648" cy="3749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Noto Sans CJK SC"/>
              </a:rPr>
              <a:t>清理 runtime cache；并使用 shared conda prefix（避免每个 agent 复制一套 env）。必要时把 conda-prefix 移到更大磁盘。</a:t>
            </a:r>
            <a:endParaRPr sz="1100" b="0" i="0"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11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