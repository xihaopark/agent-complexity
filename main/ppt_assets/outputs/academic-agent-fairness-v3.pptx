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示意：观测开销会扭曲比较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总执行时间</c:v>
                </c:pt>
              </c:strCache>
            </c:strRef>
          </c:tx>
          <c:spPr>
            <a:solidFill>
              <a:srgbClr val="2563EB"/>
            </a:solidFill>
          </c:spPr>
          <c:cat>
            <c:strRef>
              <c:f>Sheet1!$A$2:$A$3</c:f>
              <c:strCache>
                <c:ptCount val="2"/>
                <c:pt idx="0">
                  <c:v>Direct</c:v>
                </c:pt>
                <c:pt idx="1">
                  <c:v>Agent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72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观测开销</c:v>
                </c:pt>
              </c:strCache>
            </c:strRef>
          </c:tx>
          <c:spPr>
            <a:solidFill>
              <a:srgbClr val="D97706"/>
            </a:solidFill>
          </c:spPr>
          <c:cat>
            <c:strRef>
              <c:f>Sheet1!$A$2:$A$3</c:f>
              <c:strCache>
                <c:ptCount val="2"/>
                <c:pt idx="0">
                  <c:v>Direct</c:v>
                </c:pt>
                <c:pt idx="1">
                  <c:v>Agent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42</c:v>
                </c:pt>
                <c:pt idx="1">
                  <c:v>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不能只看成功率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需要同时报告</c:v>
                </c:pt>
              </c:strCache>
            </c:strRef>
          </c:tx>
          <c:spPr>
            <a:solidFill>
              <a:srgbClr val="2563EB"/>
            </a:solidFill>
          </c:spPr>
          <c:cat>
            <c:strRef>
              <c:f>Sheet1!$A$2:$A$7</c:f>
              <c:strCache>
                <c:ptCount val="6"/>
                <c:pt idx="0">
                  <c:v>success</c:v>
                </c:pt>
                <c:pt idx="1">
                  <c:v>quality</c:v>
                </c:pt>
                <c:pt idx="2">
                  <c:v>cost</c:v>
                </c:pt>
                <c:pt idx="3">
                  <c:v>latency</c:v>
                </c:pt>
                <c:pt idx="4">
                  <c:v>recovery</c:v>
                </c:pt>
                <c:pt idx="5">
                  <c:v>reproducibility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95</c:v>
                </c:pt>
                <c:pt idx="1">
                  <c:v>90</c:v>
                </c:pt>
                <c:pt idx="2">
                  <c:v>85</c:v>
                </c:pt>
                <c:pt idx="3">
                  <c:v>80</c:v>
                </c:pt>
                <c:pt idx="4">
                  <c:v>75</c:v>
                </c:pt>
                <c:pt idx="5">
                  <c:v>88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0789920" cy="621792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Noto Sans CJK SC"/>
              </a:rPr>
              <a:t>Toward Fair Evaluation of AI Agents on Bioinformatics Workflows</a:t>
            </a:r>
            <a:endParaRPr sz="2200" b="1" i="0">
              <a:latin typeface="Noto Sans CJK SC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786384"/>
            <a:ext cx="11064240" cy="274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50392"/>
            <a:ext cx="10607040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Noto Sans CJK SC"/>
              </a:rPr>
              <a:t>为什么需要从“能否完成任务”转向“能否在受控预算下公平地完成真实 workflow”</a:t>
            </a:r>
            <a:endParaRPr sz="1000" b="0" i="0">
              <a:latin typeface="Noto Sans CJK S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58368" y="1225296"/>
            <a:ext cx="4754880" cy="3657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800" b="1" i="0">
                <a:solidFill>
                  <a:srgbClr val="1E40AF"/>
                </a:solidFill>
                <a:latin typeface="Noto Sans CJK SC"/>
              </a:rPr>
              <a:t>研究动机</a:t>
            </a:r>
            <a:endParaRPr sz="1800" b="1" i="0">
              <a:latin typeface="Noto Sans CJK S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76656" y="1600200"/>
            <a:ext cx="4983480" cy="2011680"/>
          </a:xfrm>
          <a:prstGeom prst="rect">
            <a:avLst/>
          </a:prstGeom>
          <a:noFill/>
        </p:spPr>
        <p:txBody>
          <a:bodyPr wrap="square" anchor="t" lIns="50800" rIns="25400" tIns="25400" bIns="12700">
            <a:normAutofit/>
          </a:bodyPr>
          <a:lstStyle/>
          <a:p>
            <a:pPr algn="l">
              <a:spcAft>
                <a:spcPts val="600"/>
              </a:spcAft>
              <a:defRPr sz="1600">
                <a:solidFill>
                  <a:srgbClr val="0F172A"/>
                </a:solidFill>
                <a:latin typeface="Noto Sans CJK SC"/>
              </a:defRPr>
            </a:pPr>
            <a:r>
              <a:t>AI agent 已从单轮问答扩展到多步规划、工具调用与环境交互。</a:t>
            </a:r>
          </a:p>
          <a:p>
            <a:pPr algn="l">
              <a:spcAft>
                <a:spcPts val="600"/>
              </a:spcAft>
              <a:defRPr sz="1600">
                <a:solidFill>
                  <a:srgbClr val="0F172A"/>
                </a:solidFill>
                <a:latin typeface="Noto Sans CJK SC"/>
              </a:defRPr>
            </a:pPr>
            <a:r>
              <a:t>生物信息学 workflow 具有长链条、强依赖、文件密集和可复现性敏感等特点。</a:t>
            </a:r>
          </a:p>
          <a:p>
            <a:pPr algn="l">
              <a:spcAft>
                <a:spcPts val="600"/>
              </a:spcAft>
              <a:defRPr sz="1600">
                <a:solidFill>
                  <a:srgbClr val="0F172A"/>
                </a:solidFill>
                <a:latin typeface="Noto Sans CJK SC"/>
              </a:defRPr>
            </a:pPr>
            <a:r>
              <a:t>现有 benchmark 很少同时控制同一 workflow、同一工具权限、同一预算与同一观测口径。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325880"/>
            <a:ext cx="1097280" cy="566928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>
            <a:no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Noto Sans CJK SC"/>
              </a:rPr>
              <a:t>研究问题</a:t>
            </a:r>
            <a:endParaRPr sz="1100" b="1" i="0">
              <a:latin typeface="Noto Sans CJK SC"/>
            </a:endParaRPr>
          </a:p>
        </p:txBody>
      </p:sp>
      <p:sp>
        <p:nvSpPr>
          <p:cNvPr id="8" name="Chevron 7"/>
          <p:cNvSpPr/>
          <p:nvPr/>
        </p:nvSpPr>
        <p:spPr>
          <a:xfrm>
            <a:off x="7159752" y="1490472"/>
            <a:ext cx="201168" cy="219456"/>
          </a:xfrm>
          <a:prstGeom prst="chevron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06640" y="1325880"/>
            <a:ext cx="1097280" cy="566928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>
            <a:no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Noto Sans CJK SC"/>
              </a:rPr>
              <a:t>Agent 规划</a:t>
            </a:r>
            <a:endParaRPr sz="1100" b="1" i="0">
              <a:latin typeface="Noto Sans CJK SC"/>
            </a:endParaRPr>
          </a:p>
        </p:txBody>
      </p:sp>
      <p:sp>
        <p:nvSpPr>
          <p:cNvPr id="10" name="Chevron 9"/>
          <p:cNvSpPr/>
          <p:nvPr/>
        </p:nvSpPr>
        <p:spPr>
          <a:xfrm>
            <a:off x="8485632" y="1490472"/>
            <a:ext cx="201168" cy="219456"/>
          </a:xfrm>
          <a:prstGeom prst="chevron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32520" y="1325880"/>
            <a:ext cx="1097280" cy="566928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>
            <a:no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Noto Sans CJK SC"/>
              </a:rPr>
              <a:t>Workflow 执行</a:t>
            </a:r>
            <a:endParaRPr sz="1100" b="1" i="0">
              <a:latin typeface="Noto Sans CJK SC"/>
            </a:endParaRPr>
          </a:p>
        </p:txBody>
      </p:sp>
      <p:sp>
        <p:nvSpPr>
          <p:cNvPr id="12" name="Chevron 11"/>
          <p:cNvSpPr/>
          <p:nvPr/>
        </p:nvSpPr>
        <p:spPr>
          <a:xfrm>
            <a:off x="9811512" y="1490472"/>
            <a:ext cx="201168" cy="219456"/>
          </a:xfrm>
          <a:prstGeom prst="chevron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058399" y="1325880"/>
            <a:ext cx="1097280" cy="566928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>
            <a:noAutofit/>
          </a:bodyPr>
          <a:lstStyle/>
          <a:p>
            <a:pPr algn="ctr"/>
            <a:r>
              <a:rPr sz="1100" b="1" i="0">
                <a:solidFill>
                  <a:srgbClr val="0F172A"/>
                </a:solidFill>
                <a:latin typeface="Noto Sans CJK SC"/>
              </a:rPr>
              <a:t>结果评估</a:t>
            </a:r>
            <a:endParaRPr sz="1100" b="1" i="0">
              <a:latin typeface="Noto Sans CJK SC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126480" y="2194560"/>
            <a:ext cx="1783080" cy="12984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2194560"/>
            <a:ext cx="73152" cy="129844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91072" y="2286000"/>
            <a:ext cx="1527048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Noto Sans CJK SC"/>
              </a:rPr>
              <a:t>GAIA</a:t>
            </a:r>
            <a:endParaRPr sz="1300" b="1" i="0">
              <a:latin typeface="Noto Sans CJK SC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291072" y="2596896"/>
            <a:ext cx="1527048" cy="804672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Noto Sans CJK SC"/>
              </a:rPr>
              <a:t>466 real-world questions</a:t>
            </a:r>
            <a:br>
              <a:rPr sz="1000" b="0" i="0">
                <a:latin typeface="Noto Sans CJK SC"/>
              </a:rPr>
            </a:br>
            <a:r>
              <a:rPr sz="1000" b="0" i="0">
                <a:latin typeface="Noto Sans CJK SC"/>
              </a:rPr>
              <a:t>Human 92%</a:t>
            </a:r>
            <a:br>
              <a:rPr sz="1000" b="0" i="0">
                <a:latin typeface="Noto Sans CJK SC"/>
              </a:rPr>
            </a:br>
            <a:r>
              <a:rPr sz="1000" b="0" i="0">
                <a:latin typeface="Noto Sans CJK SC"/>
              </a:rPr>
              <a:t>GPT-4+plugins 15%</a:t>
            </a:r>
            <a:endParaRPr sz="1000" b="0" i="0">
              <a:latin typeface="Noto Sans CJK SC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046720" y="2194560"/>
            <a:ext cx="1783080" cy="12984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2194560"/>
            <a:ext cx="73152" cy="1298448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11312" y="2286000"/>
            <a:ext cx="1527048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Noto Sans CJK SC"/>
              </a:rPr>
              <a:t>OSWorld</a:t>
            </a:r>
            <a:endParaRPr sz="1300" b="1" i="0">
              <a:latin typeface="Noto Sans CJK SC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211312" y="2596896"/>
            <a:ext cx="1527048" cy="804672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Noto Sans CJK SC"/>
              </a:rPr>
              <a:t>369 desktop tasks</a:t>
            </a:r>
            <a:br>
              <a:rPr sz="1000" b="0" i="0">
                <a:latin typeface="Noto Sans CJK SC"/>
              </a:rPr>
            </a:br>
            <a:r>
              <a:rPr sz="1000" b="0" i="0">
                <a:latin typeface="Noto Sans CJK SC"/>
              </a:rPr>
              <a:t>Human 72.36%</a:t>
            </a:r>
            <a:br>
              <a:rPr sz="1000" b="0" i="0">
                <a:latin typeface="Noto Sans CJK SC"/>
              </a:rPr>
            </a:br>
            <a:r>
              <a:rPr sz="1000" b="0" i="0">
                <a:latin typeface="Noto Sans CJK SC"/>
              </a:rPr>
              <a:t>Best model 12.24%</a:t>
            </a:r>
            <a:endParaRPr sz="1000" b="0" i="0">
              <a:latin typeface="Noto Sans CJK SC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9966960" y="2194560"/>
            <a:ext cx="1600200" cy="12984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966960" y="2194560"/>
            <a:ext cx="73152" cy="1298448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31552" y="2286000"/>
            <a:ext cx="1344168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Noto Sans CJK SC"/>
              </a:rPr>
              <a:t>BixBench</a:t>
            </a:r>
            <a:endParaRPr sz="1300" b="1" i="0">
              <a:latin typeface="Noto Sans CJK SC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131552" y="2596896"/>
            <a:ext cx="1344168" cy="804672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Noto Sans CJK SC"/>
              </a:rPr>
              <a:t>53 bioinformatics scenarios</a:t>
            </a:r>
            <a:br>
              <a:rPr sz="900" b="0" i="0">
                <a:latin typeface="Noto Sans CJK SC"/>
              </a:rPr>
            </a:br>
            <a:r>
              <a:rPr sz="900" b="0" i="0">
                <a:latin typeface="Noto Sans CJK SC"/>
              </a:rPr>
              <a:t>296 questions</a:t>
            </a:r>
            <a:br>
              <a:rPr sz="900" b="0" i="0">
                <a:latin typeface="Noto Sans CJK SC"/>
              </a:rPr>
            </a:br>
            <a:r>
              <a:rPr sz="900" b="0" i="0">
                <a:latin typeface="Noto Sans CJK SC"/>
              </a:rPr>
              <a:t>multi-step analysis</a:t>
            </a:r>
            <a:endParaRPr sz="900" b="0" i="0">
              <a:latin typeface="Noto Sans CJK SC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713232" y="4069080"/>
            <a:ext cx="10927080" cy="1353312"/>
          </a:xfrm>
          <a:prstGeom prst="roundRect">
            <a:avLst>
              <a:gd name="adj" fmla="val 10000"/>
            </a:avLst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Noto Sans CJK SC"/>
              </a:rPr>
              <a:t>核心问题：如果不同 agent 在“同一 workflow”上使用不同环境、不同观测方式和不同预算，最终比较结果往往并不公平。</a:t>
            </a:r>
            <a:endParaRPr sz="1800" b="1" i="0">
              <a:latin typeface="Noto Sans CJK SC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7132320" cy="164592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Noto Sans CJK SC"/>
              </a:rPr>
              <a:t>Agent Benchmarking for Bioinformatics Workflows</a:t>
            </a:r>
            <a:endParaRPr sz="900" b="0" i="0">
              <a:latin typeface="Noto Sans CJK SC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972800" y="6400800"/>
            <a:ext cx="548640" cy="20116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Noto Sans CJK SC"/>
              </a:rPr>
              <a:t>1</a:t>
            </a:r>
            <a:endParaRPr sz="1100" b="0" i="0">
              <a:latin typeface="Noto Sans CJK S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0789920" cy="621792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Noto Sans CJK SC"/>
              </a:rPr>
              <a:t>Benchmark Landscape: What Existing Benchmarks Cover and What They Miss</a:t>
            </a:r>
            <a:endParaRPr sz="2200" b="1" i="0">
              <a:latin typeface="Noto Sans CJK SC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786384"/>
            <a:ext cx="11064240" cy="274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207008"/>
          <a:ext cx="653796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463040"/>
                <a:gridCol w="1417320"/>
                <a:gridCol w="2560320"/>
              </a:tblGrid>
              <a:tr h="693420">
                <a:tc>
                  <a:txBody>
                    <a:bodyPr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  <a:latin typeface="Noto Sans CJK SC"/>
                        </a:rPr>
                        <a:t>Benchmark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  <a:latin typeface="Noto Sans CJK SC"/>
                        </a:rPr>
                        <a:t>主要能力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  <a:latin typeface="Noto Sans CJK SC"/>
                        </a:rPr>
                        <a:t>优点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  <a:latin typeface="Noto Sans CJK SC"/>
                        </a:rPr>
                        <a:t>缺口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Noto Sans CJK SC"/>
                        </a:rPr>
                        <a:t>GAIA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Noto Sans CJK SC"/>
                        </a:rPr>
                        <a:t>多步推理 + 工具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Noto Sans CJK SC"/>
                        </a:rPr>
                        <a:t>真实世界问题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Noto Sans CJK SC"/>
                        </a:rPr>
                        <a:t>非 workflow 场景，环境控制弱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Noto Sans CJK SC"/>
                        </a:rPr>
                        <a:t>SWE-bench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Noto Sans CJK SC"/>
                        </a:rPr>
                        <a:t>仓库级修复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Noto Sans CJK SC"/>
                        </a:rPr>
                        <a:t>长链工程任务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Noto Sans CJK SC"/>
                        </a:rPr>
                        <a:t>偏软件工程，不含数据流水线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Noto Sans CJK SC"/>
                        </a:rPr>
                        <a:t>WebArena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Noto Sans CJK SC"/>
                        </a:rPr>
                        <a:t>Web 交互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Noto Sans CJK SC"/>
                        </a:rPr>
                        <a:t>可复现网页环境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Noto Sans CJK SC"/>
                        </a:rPr>
                        <a:t>缺少文件密集型科学 workflow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Noto Sans CJK SC"/>
                        </a:rPr>
                        <a:t>OSWorld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Noto Sans CJK SC"/>
                        </a:rPr>
                        <a:t>桌面/多应用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Noto Sans CJK SC"/>
                        </a:rPr>
                        <a:t>真实计算机环境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Noto Sans CJK SC"/>
                        </a:rPr>
                        <a:t>领域约束弱，生信工具链缺失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Noto Sans CJK SC"/>
                        </a:rPr>
                        <a:t>BixBench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Noto Sans CJK SC"/>
                        </a:rPr>
                        <a:t>生信分析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Noto Sans CJK SC"/>
                        </a:rPr>
                        <a:t>贴近 bioinformatics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F172A"/>
                          </a:solidFill>
                          <a:latin typeface="Noto Sans CJK SC"/>
                        </a:rPr>
                        <a:t>尚未强调公平的 agent-to-agent 协议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60920" y="1280160"/>
            <a:ext cx="3840480" cy="329184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1" i="0">
                <a:solidFill>
                  <a:srgbClr val="0F172A"/>
                </a:solidFill>
                <a:latin typeface="Noto Sans CJK SC"/>
              </a:rPr>
              <a:t>真实性 vs 领域适配度</a:t>
            </a:r>
            <a:endParaRPr sz="1400" b="1" i="0">
              <a:latin typeface="Noto Sans CJK SC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406640" y="1691640"/>
            <a:ext cx="3749039" cy="2606040"/>
          </a:xfrm>
          <a:prstGeom prst="rect">
            <a:avLst/>
          </a:prstGeom>
          <a:noFill/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281159" y="1691640"/>
            <a:ext cx="9144" cy="260604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06640" y="2994660"/>
            <a:ext cx="3749039" cy="9144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1080" y="4325112"/>
            <a:ext cx="1280160" cy="219456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ctr"/>
            <a:r>
              <a:rPr sz="900" b="0" i="0">
                <a:solidFill>
                  <a:srgbClr val="475569"/>
                </a:solidFill>
                <a:latin typeface="Noto Sans CJK SC"/>
              </a:rPr>
              <a:t>真实性</a:t>
            </a:r>
            <a:endParaRPr sz="900" b="0" i="0">
              <a:latin typeface="Noto Sans CJK S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60920" y="2697480"/>
            <a:ext cx="411480" cy="6400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ctr"/>
            <a:r>
              <a:rPr sz="900" b="0" i="0">
                <a:solidFill>
                  <a:srgbClr val="475569"/>
                </a:solidFill>
                <a:latin typeface="Noto Sans CJK SC"/>
              </a:rPr>
              <a:t>领域</a:t>
            </a:r>
            <a:br>
              <a:rPr sz="900" b="0" i="0">
                <a:latin typeface="Noto Sans CJK SC"/>
              </a:rPr>
            </a:br>
            <a:r>
              <a:rPr sz="900" b="0" i="0">
                <a:latin typeface="Noto Sans CJK SC"/>
              </a:rPr>
              <a:t>适配度</a:t>
            </a:r>
            <a:endParaRPr sz="900" b="0" i="0">
              <a:latin typeface="Noto Sans CJK SC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8229600" y="3273552"/>
            <a:ext cx="182880" cy="18288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3227832"/>
            <a:ext cx="1051560" cy="20116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800" b="0" i="0">
                <a:solidFill>
                  <a:srgbClr val="0F172A"/>
                </a:solidFill>
                <a:latin typeface="Noto Sans CJK SC"/>
              </a:rPr>
              <a:t>GAIA</a:t>
            </a:r>
            <a:endParaRPr sz="800" b="0" i="0">
              <a:latin typeface="Noto Sans CJK SC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9052560" y="2816352"/>
            <a:ext cx="182880" cy="182880"/>
          </a:xfrm>
          <a:prstGeom prst="ellipse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2770632"/>
            <a:ext cx="1051560" cy="20116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800" b="0" i="0">
                <a:solidFill>
                  <a:srgbClr val="0F172A"/>
                </a:solidFill>
                <a:latin typeface="Noto Sans CJK SC"/>
              </a:rPr>
              <a:t>SWE-bench</a:t>
            </a:r>
            <a:endParaRPr sz="800" b="0" i="0">
              <a:latin typeface="Noto Sans CJK SC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9738360" y="3182112"/>
            <a:ext cx="182880" cy="182880"/>
          </a:xfrm>
          <a:prstGeom prst="ellipse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21240" y="3136391"/>
            <a:ext cx="1051560" cy="20116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800" b="0" i="0">
                <a:solidFill>
                  <a:srgbClr val="0F172A"/>
                </a:solidFill>
                <a:latin typeface="Noto Sans CJK SC"/>
              </a:rPr>
              <a:t>WebArena</a:t>
            </a:r>
            <a:endParaRPr sz="800" b="0" i="0">
              <a:latin typeface="Noto Sans CJK SC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10149840" y="2816352"/>
            <a:ext cx="182880" cy="182880"/>
          </a:xfrm>
          <a:prstGeom prst="ellipse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0" y="2770632"/>
            <a:ext cx="1051560" cy="20116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800" b="0" i="0">
                <a:solidFill>
                  <a:srgbClr val="0F172A"/>
                </a:solidFill>
                <a:latin typeface="Noto Sans CJK SC"/>
              </a:rPr>
              <a:t>OSWorld</a:t>
            </a:r>
            <a:endParaRPr sz="800" b="0" i="0">
              <a:latin typeface="Noto Sans CJK SC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10149840" y="2130552"/>
            <a:ext cx="182880" cy="182880"/>
          </a:xfrm>
          <a:prstGeom prst="ellipse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0" y="2084831"/>
            <a:ext cx="1051560" cy="20116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800" b="0" i="0">
                <a:solidFill>
                  <a:srgbClr val="0F172A"/>
                </a:solidFill>
                <a:latin typeface="Noto Sans CJK SC"/>
              </a:rPr>
              <a:t>BixBench</a:t>
            </a:r>
            <a:endParaRPr sz="800" b="0" i="0">
              <a:latin typeface="Noto Sans CJK SC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10378440" y="1874520"/>
            <a:ext cx="182880" cy="182880"/>
          </a:xfrm>
          <a:prstGeom prst="ellipse">
            <a:avLst/>
          </a:prstGeom>
          <a:solidFill>
            <a:srgbClr val="7E22CE"/>
          </a:solidFill>
          <a:ln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61320" y="1828799"/>
            <a:ext cx="1051560" cy="20116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800" b="0" i="0">
                <a:solidFill>
                  <a:srgbClr val="0F172A"/>
                </a:solidFill>
                <a:latin typeface="Noto Sans CJK SC"/>
              </a:rPr>
              <a:t>本项目目标</a:t>
            </a:r>
            <a:endParaRPr sz="800" b="0" i="0">
              <a:latin typeface="Noto Sans CJK SC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315200" y="4572000"/>
            <a:ext cx="3913632" cy="1234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0" y="4572000"/>
            <a:ext cx="73152" cy="1234440"/>
          </a:xfrm>
          <a:prstGeom prst="rect">
            <a:avLst/>
          </a:prstGeom>
          <a:solidFill>
            <a:srgbClr val="7E22CE"/>
          </a:solidFill>
          <a:ln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79792" y="4663440"/>
            <a:ext cx="3657600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Noto Sans CJK SC"/>
              </a:rPr>
              <a:t>结论</a:t>
            </a:r>
            <a:endParaRPr sz="1300" b="1" i="0">
              <a:latin typeface="Noto Sans CJK SC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479792" y="4974336"/>
            <a:ext cx="3657600" cy="740664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Noto Sans CJK SC"/>
              </a:rPr>
              <a:t>现有 benchmark 已覆盖多步推理、代码、Web 与桌面交互，但仍缺少面向 bioinformatics workflow 的公平协议：同任务、同预算、同工具、同日志、同评判。</a:t>
            </a:r>
            <a:endParaRPr sz="1000" b="0" i="0">
              <a:latin typeface="Noto Sans CJK SC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7132320" cy="164592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Noto Sans CJK SC"/>
              </a:rPr>
              <a:t>Agent Benchmarking for Bioinformatics Workflows</a:t>
            </a:r>
            <a:endParaRPr sz="900" b="0" i="0">
              <a:latin typeface="Noto Sans CJK SC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972800" y="6400800"/>
            <a:ext cx="548640" cy="20116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Noto Sans CJK SC"/>
              </a:rPr>
              <a:t>2</a:t>
            </a:r>
            <a:endParaRPr sz="1100" b="0" i="0">
              <a:latin typeface="Noto Sans CJK S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0789920" cy="621792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Noto Sans CJK SC"/>
              </a:rPr>
              <a:t>What Counts as a Fair Comparison?</a:t>
            </a:r>
            <a:endParaRPr sz="2200" b="1" i="0">
              <a:latin typeface="Noto Sans CJK SC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786384"/>
            <a:ext cx="11064240" cy="274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225296"/>
            <a:ext cx="4754880" cy="329184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 i="0">
                <a:solidFill>
                  <a:srgbClr val="1E40AF"/>
                </a:solidFill>
                <a:latin typeface="Noto Sans CJK SC"/>
              </a:rPr>
              <a:t>公平比较的五个控制变量</a:t>
            </a:r>
            <a:endParaRPr sz="1600" b="1" i="0">
              <a:latin typeface="Noto Sans CJK SC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13232" y="1600200"/>
            <a:ext cx="1920240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600200"/>
            <a:ext cx="73152" cy="93268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691640"/>
            <a:ext cx="1664208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Noto Sans CJK SC"/>
              </a:rPr>
              <a:t>Task</a:t>
            </a:r>
            <a:endParaRPr sz="1300" b="1" i="0">
              <a:latin typeface="Noto Sans CJK SC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7824" y="2002536"/>
            <a:ext cx="1664208" cy="438912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Noto Sans CJK SC"/>
              </a:rPr>
              <a:t>同一 workflow 目标与输入数据</a:t>
            </a:r>
            <a:endParaRPr sz="1000" b="0" i="0">
              <a:latin typeface="Noto Sans CJK SC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834640" y="1600200"/>
            <a:ext cx="1920240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34640" y="1600200"/>
            <a:ext cx="73152" cy="93268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99232" y="1691640"/>
            <a:ext cx="1664208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Noto Sans CJK SC"/>
              </a:rPr>
              <a:t>Environment</a:t>
            </a:r>
            <a:endParaRPr sz="1300" b="1" i="0">
              <a:latin typeface="Noto Sans CJK SC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999232" y="2002536"/>
            <a:ext cx="1664208" cy="438912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Noto Sans CJK SC"/>
              </a:rPr>
              <a:t>同一软件栈、依赖与快照</a:t>
            </a:r>
            <a:endParaRPr sz="1000" b="0" i="0">
              <a:latin typeface="Noto Sans CJK SC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13232" y="2788920"/>
            <a:ext cx="1920240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3232" y="2788920"/>
            <a:ext cx="73152" cy="93268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2880360"/>
            <a:ext cx="1664208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Noto Sans CJK SC"/>
              </a:rPr>
              <a:t>Tools</a:t>
            </a:r>
            <a:endParaRPr sz="1300" b="1" i="0">
              <a:latin typeface="Noto Sans CJK SC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77824" y="3191256"/>
            <a:ext cx="1664208" cy="438912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rm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Noto Sans CJK SC"/>
              </a:rPr>
              <a:t>同一工具权限、检索范围与接口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34640" y="2788920"/>
            <a:ext cx="1920240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34640" y="2788920"/>
            <a:ext cx="73152" cy="93268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99232" y="2880360"/>
            <a:ext cx="1664208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Noto Sans CJK SC"/>
              </a:rPr>
              <a:t>Budget</a:t>
            </a:r>
            <a:endParaRPr sz="1300" b="1" i="0">
              <a:latin typeface="Noto Sans CJK SC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999232" y="3191256"/>
            <a:ext cx="1664208" cy="438912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Noto Sans CJK SC"/>
              </a:rPr>
              <a:t>同一 token / 步数 / 时间预算</a:t>
            </a:r>
            <a:endParaRPr sz="1000" b="0" i="0">
              <a:latin typeface="Noto Sans CJK SC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1773936" y="3977639"/>
            <a:ext cx="1920240" cy="9326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773936" y="3977639"/>
            <a:ext cx="73152" cy="932688"/>
          </a:xfrm>
          <a:prstGeom prst="rect">
            <a:avLst/>
          </a:prstGeom>
          <a:solidFill>
            <a:srgbClr val="7E22CE"/>
          </a:solidFill>
          <a:ln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938528" y="4069079"/>
            <a:ext cx="1664208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Noto Sans CJK SC"/>
              </a:rPr>
              <a:t>Observation</a:t>
            </a:r>
            <a:endParaRPr sz="1300" b="1" i="0">
              <a:latin typeface="Noto Sans CJK SC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38528" y="4379975"/>
            <a:ext cx="1664208" cy="438912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Noto Sans CJK SC"/>
              </a:rPr>
              <a:t>同一日志、I/O 观测与评分口径</a:t>
            </a:r>
            <a:endParaRPr sz="1000" b="0" i="0">
              <a:latin typeface="Noto Sans CJK SC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713232" y="5138928"/>
            <a:ext cx="4069080" cy="658368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>
            <a:no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  <a:latin typeface="Noto Sans CJK SC"/>
              </a:rPr>
              <a:t>Fair comparison = same task + tools + budget + observation + judge</a:t>
            </a:r>
            <a:endParaRPr sz="1200" b="1" i="0">
              <a:latin typeface="Noto Sans CJK SC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400800" y="1225296"/>
            <a:ext cx="4937760" cy="329184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 i="0">
                <a:solidFill>
                  <a:srgbClr val="DC2626"/>
                </a:solidFill>
                <a:latin typeface="Noto Sans CJK SC"/>
              </a:rPr>
              <a:t>为什么现有比较经常失真？</a:t>
            </a:r>
            <a:endParaRPr sz="1600" b="1" i="0">
              <a:latin typeface="Noto Sans CJK SC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419088" y="1572768"/>
            <a:ext cx="4709160" cy="2240280"/>
          </a:xfrm>
          <a:prstGeom prst="rect">
            <a:avLst/>
          </a:prstGeom>
          <a:noFill/>
        </p:spPr>
        <p:txBody>
          <a:bodyPr wrap="square" anchor="t" lIns="50800" rIns="25400" tIns="25400" bIns="12700">
            <a:noAutofit/>
          </a:bodyPr>
          <a:lstStyle/>
          <a:p>
            <a:pPr algn="l">
              <a:spcAft>
                <a:spcPts val="600"/>
              </a:spcAft>
              <a:defRPr sz="1400">
                <a:solidFill>
                  <a:srgbClr val="0F172A"/>
                </a:solidFill>
                <a:latin typeface="Noto Sans CJK SC"/>
              </a:defRPr>
            </a:pPr>
            <a:r>
              <a:rPr sz="1400" b="0" i="0">
                <a:latin typeface="Noto Sans CJK SC"/>
              </a:rPr>
              <a:t>观测偏差：额外文件扫描 / 哈希 / tracing 可能改变 wall-clock 结果。</a:t>
            </a:r>
            <a:endParaRPr sz="1400" b="0" i="0">
              <a:latin typeface="Noto Sans CJK SC"/>
            </a:endParaRPr>
          </a:p>
          <a:p>
            <a:pPr algn="l">
              <a:spcAft>
                <a:spcPts val="600"/>
              </a:spcAft>
              <a:defRPr sz="1400">
                <a:solidFill>
                  <a:srgbClr val="0F172A"/>
                </a:solidFill>
                <a:latin typeface="Noto Sans CJK SC"/>
              </a:defRPr>
            </a:pPr>
            <a:r>
              <a:rPr sz="1400" b="0" i="0">
                <a:latin typeface="Noto Sans CJK SC"/>
              </a:rPr>
              <a:t>环境偏差：冷启动、缓存命中、conda 激活与依赖检查开销不一致。</a:t>
            </a:r>
            <a:endParaRPr sz="1400" b="0" i="0">
              <a:latin typeface="Noto Sans CJK SC"/>
            </a:endParaRPr>
          </a:p>
          <a:p>
            <a:pPr algn="l">
              <a:spcAft>
                <a:spcPts val="600"/>
              </a:spcAft>
              <a:defRPr sz="1400">
                <a:solidFill>
                  <a:srgbClr val="0F172A"/>
                </a:solidFill>
                <a:latin typeface="Noto Sans CJK SC"/>
              </a:defRPr>
            </a:pPr>
            <a:r>
              <a:rPr sz="1400" b="0" i="0">
                <a:latin typeface="Noto Sans CJK SC"/>
              </a:rPr>
              <a:t>提示偏差：隐藏 system prompt 或工具描述长度不同，会改变 token 与效果。</a:t>
            </a:r>
            <a:endParaRPr sz="1400" b="0" i="0">
              <a:latin typeface="Noto Sans CJK SC"/>
            </a:endParaRPr>
          </a:p>
          <a:p>
            <a:pPr algn="l">
              <a:spcAft>
                <a:spcPts val="600"/>
              </a:spcAft>
              <a:defRPr sz="1400">
                <a:solidFill>
                  <a:srgbClr val="0F172A"/>
                </a:solidFill>
                <a:latin typeface="Noto Sans CJK SC"/>
              </a:defRPr>
            </a:pPr>
            <a:r>
              <a:rPr sz="1400" b="0" i="0">
                <a:latin typeface="Noto Sans CJK SC"/>
              </a:rPr>
              <a:t>评判偏差：只看最终成功率，忽略重试次数、I/O 开销和失败恢复。</a:t>
            </a:r>
            <a:endParaRPr sz="1400" b="0" i="0">
              <a:latin typeface="Noto Sans CJK SC"/>
            </a:endParaRPr>
          </a:p>
        </p:txBody>
      </p:sp>
      <p:graphicFrame>
        <p:nvGraphicFramePr>
          <p:cNvPr id="28" name="Chart 27"/>
          <p:cNvGraphicFramePr>
            <a:graphicFrameLocks noGrp="1"/>
          </p:cNvGraphicFramePr>
          <p:nvPr/>
        </p:nvGraphicFramePr>
        <p:xfrm>
          <a:off x="6473952" y="4160520"/>
          <a:ext cx="4434840" cy="1417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548640" y="6446520"/>
            <a:ext cx="7132320" cy="164592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Noto Sans CJK SC"/>
              </a:rPr>
              <a:t>Agent Benchmarking for Bioinformatics Workflows</a:t>
            </a:r>
            <a:endParaRPr sz="900" b="0" i="0">
              <a:latin typeface="Noto Sans CJK SC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972800" y="6400800"/>
            <a:ext cx="548640" cy="20116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Noto Sans CJK SC"/>
              </a:rPr>
              <a:t>3</a:t>
            </a:r>
            <a:endParaRPr sz="1100" b="0" i="0">
              <a:latin typeface="Noto Sans CJK S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0789920" cy="621792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Noto Sans CJK SC"/>
              </a:rPr>
              <a:t>Our Design: Workflow Decomposition, Skillization, and Standardized Execution</a:t>
            </a:r>
            <a:endParaRPr sz="2200" b="1" i="0">
              <a:latin typeface="Noto Sans CJK SC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786384"/>
            <a:ext cx="11064240" cy="274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13232" y="1353312"/>
            <a:ext cx="25146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463040"/>
            <a:ext cx="512064" cy="237744"/>
          </a:xfrm>
          <a:prstGeom prst="roundRect">
            <a:avLst>
              <a:gd name="adj" fmla="val 10000"/>
            </a:avLst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Noto Sans CJK SC"/>
              </a:rPr>
              <a:t>1</a:t>
            </a:r>
            <a:endParaRPr sz="1000" b="1" i="0">
              <a:latin typeface="Noto Sans CJK S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1755648"/>
            <a:ext cx="2240280" cy="310896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Noto Sans CJK SC"/>
              </a:rPr>
              <a:t>Workflow 拆解</a:t>
            </a:r>
            <a:endParaRPr sz="1200" b="1" i="0">
              <a:latin typeface="Noto Sans CJK S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2066544"/>
            <a:ext cx="2267712" cy="47548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rmAutofit/>
          </a:bodyPr>
          <a:lstStyle/>
          <a:p>
            <a:pPr algn="l"/>
            <a:r>
              <a:rPr sz="980" b="0">
                <a:solidFill>
                  <a:srgbClr val="475569"/>
                </a:solidFill>
                <a:latin typeface="Noto Sans CJK SC"/>
              </a:rPr>
              <a:t>将 STAR/DESeq2、Kallisto/Sleuth、Varlociraptor 等流程拆成 atomic steps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39312" y="1353312"/>
            <a:ext cx="25146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749040" y="1463040"/>
            <a:ext cx="512064" cy="237744"/>
          </a:xfrm>
          <a:prstGeom prst="roundRect">
            <a:avLst>
              <a:gd name="adj" fmla="val 10000"/>
            </a:avLst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Noto Sans CJK SC"/>
              </a:rPr>
              <a:t>2</a:t>
            </a:r>
            <a:endParaRPr sz="1000" b="1" i="0">
              <a:latin typeface="Noto Sans CJK S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749040" y="1755648"/>
            <a:ext cx="2240280" cy="310896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Noto Sans CJK SC"/>
              </a:rPr>
              <a:t>Skill 封装</a:t>
            </a:r>
            <a:endParaRPr sz="1200" b="1" i="0">
              <a:latin typeface="Noto Sans CJK S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9040" y="2066544"/>
            <a:ext cx="2267712" cy="47548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rmAutofit/>
          </a:bodyPr>
          <a:lstStyle/>
          <a:p>
            <a:pPr algn="l"/>
            <a:r>
              <a:rPr sz="980" b="0">
                <a:solidFill>
                  <a:srgbClr val="475569"/>
                </a:solidFill>
                <a:latin typeface="Noto Sans CJK SC"/>
              </a:rPr>
              <a:t>为每个步骤定义目标、输入/输出、依赖关系和完成标准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65392" y="1353312"/>
            <a:ext cx="25146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675120" y="1463040"/>
            <a:ext cx="512064" cy="237744"/>
          </a:xfrm>
          <a:prstGeom prst="roundRect">
            <a:avLst>
              <a:gd name="adj" fmla="val 10000"/>
            </a:avLst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Noto Sans CJK SC"/>
              </a:rPr>
              <a:t>3</a:t>
            </a:r>
            <a:endParaRPr sz="1000" b="1" i="0">
              <a:latin typeface="Noto Sans CJK SC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675120" y="1755648"/>
            <a:ext cx="2240280" cy="310896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Noto Sans CJK SC"/>
              </a:rPr>
              <a:t>Tool 接口化</a:t>
            </a:r>
            <a:endParaRPr sz="1200" b="1" i="0">
              <a:latin typeface="Noto Sans CJK SC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675120" y="2066544"/>
            <a:ext cx="2267712" cy="47548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Noto Sans CJK SC"/>
              </a:rPr>
              <a:t>把文件系统、执行器、日志观测统一为 agent 可调用接口</a:t>
            </a:r>
            <a:endParaRPr sz="900" b="0" i="0">
              <a:latin typeface="Noto Sans CJK SC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2176272" y="3108960"/>
            <a:ext cx="25146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286000" y="3218688"/>
            <a:ext cx="512064" cy="237744"/>
          </a:xfrm>
          <a:prstGeom prst="roundRect">
            <a:avLst>
              <a:gd name="adj" fmla="val 10000"/>
            </a:avLst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Noto Sans CJK SC"/>
              </a:rPr>
              <a:t>4</a:t>
            </a:r>
            <a:endParaRPr sz="1000" b="1" i="0">
              <a:latin typeface="Noto Sans CJK SC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286000" y="3511296"/>
            <a:ext cx="2240280" cy="310896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Noto Sans CJK SC"/>
              </a:rPr>
              <a:t>受控执行</a:t>
            </a:r>
            <a:endParaRPr sz="1200" b="1" i="0">
              <a:latin typeface="Noto Sans CJK SC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286000" y="3822192"/>
            <a:ext cx="2267712" cy="47548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Noto Sans CJK SC"/>
              </a:rPr>
              <a:t>固定环境、预算与权限，实现 apples-to-apples 对比</a:t>
            </a:r>
            <a:endParaRPr sz="900" b="0" i="0">
              <a:latin typeface="Noto Sans CJK SC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102352" y="3108960"/>
            <a:ext cx="251460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212080" y="3218688"/>
            <a:ext cx="512064" cy="237744"/>
          </a:xfrm>
          <a:prstGeom prst="roundRect">
            <a:avLst>
              <a:gd name="adj" fmla="val 10000"/>
            </a:avLst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wrap="square">
            <a:no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Noto Sans CJK SC"/>
              </a:rPr>
              <a:t>5</a:t>
            </a:r>
            <a:endParaRPr sz="1000" b="1" i="0">
              <a:latin typeface="Noto Sans CJK SC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212080" y="3511296"/>
            <a:ext cx="2240280" cy="310896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Noto Sans CJK SC"/>
              </a:rPr>
              <a:t>统一评测</a:t>
            </a:r>
            <a:endParaRPr sz="1200" b="1" i="0">
              <a:latin typeface="Noto Sans CJK SC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212080" y="3822192"/>
            <a:ext cx="2267712" cy="47548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Noto Sans CJK SC"/>
              </a:rPr>
              <a:t>记录 success、cost、latency、I/O、恢复与 reproducibility</a:t>
            </a:r>
            <a:endParaRPr sz="900" b="0" i="0">
              <a:latin typeface="Noto Sans CJK SC"/>
            </a:endParaRPr>
          </a:p>
        </p:txBody>
      </p:sp>
      <p:sp>
        <p:nvSpPr>
          <p:cNvPr id="24" name="Chevron 23"/>
          <p:cNvSpPr/>
          <p:nvPr/>
        </p:nvSpPr>
        <p:spPr>
          <a:xfrm>
            <a:off x="3255264" y="1874519"/>
            <a:ext cx="237744" cy="164592"/>
          </a:xfrm>
          <a:prstGeom prst="chevron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hevron 24"/>
          <p:cNvSpPr/>
          <p:nvPr/>
        </p:nvSpPr>
        <p:spPr>
          <a:xfrm>
            <a:off x="6181344" y="1874519"/>
            <a:ext cx="237744" cy="164592"/>
          </a:xfrm>
          <a:prstGeom prst="chevron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hevron 25"/>
          <p:cNvSpPr/>
          <p:nvPr/>
        </p:nvSpPr>
        <p:spPr>
          <a:xfrm>
            <a:off x="3401568" y="2761488"/>
            <a:ext cx="201168" cy="237744"/>
          </a:xfrm>
          <a:prstGeom prst="chevron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hevron 26"/>
          <p:cNvSpPr/>
          <p:nvPr/>
        </p:nvSpPr>
        <p:spPr>
          <a:xfrm>
            <a:off x="6327648" y="2761488"/>
            <a:ext cx="201168" cy="237744"/>
          </a:xfrm>
          <a:prstGeom prst="chevron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2960" y="4828032"/>
            <a:ext cx="3383280" cy="9875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2960" y="4828032"/>
            <a:ext cx="73152" cy="987552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7552" y="4919472"/>
            <a:ext cx="3127248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Noto Sans CJK SC"/>
              </a:rPr>
              <a:t>Why Bioinformatics?</a:t>
            </a:r>
            <a:endParaRPr sz="1300" b="1" i="0">
              <a:latin typeface="Noto Sans CJK SC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87552" y="5230368"/>
            <a:ext cx="3127248" cy="493776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Noto Sans CJK SC"/>
              </a:rPr>
              <a:t>长链条、强依赖、文件密集、环境敏感。workflow manager 能保证可复现，但 agent benchmark 仍缺少配套的公平评测协议。</a:t>
            </a:r>
            <a:endParaRPr sz="900" b="0" i="0">
              <a:latin typeface="Noto Sans CJK SC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4407408" y="4828032"/>
            <a:ext cx="3383280" cy="9875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407408" y="4828032"/>
            <a:ext cx="73152" cy="9875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0" y="4919472"/>
            <a:ext cx="3127248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Noto Sans CJK SC"/>
              </a:rPr>
              <a:t>Why Skillization?</a:t>
            </a:r>
            <a:endParaRPr sz="1300" b="1" i="0">
              <a:latin typeface="Noto Sans CJK SC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572000" y="5230368"/>
            <a:ext cx="3127248" cy="493776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rm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Noto Sans CJK SC"/>
              </a:rPr>
              <a:t>skill 让每个步骤的目标、输入输出、完成条件和工具接口都显式化，便于 agent 执行、日志记录与误差归因。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91856" y="4828032"/>
            <a:ext cx="3383280" cy="9875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991856" y="4828032"/>
            <a:ext cx="73152" cy="987552"/>
          </a:xfrm>
          <a:prstGeom prst="rect">
            <a:avLst/>
          </a:prstGeom>
          <a:solidFill>
            <a:srgbClr val="7E22CE"/>
          </a:solidFill>
          <a:ln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56448" y="4919472"/>
            <a:ext cx="3127248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  <a:latin typeface="Noto Sans CJK SC"/>
              </a:rPr>
              <a:t>Why It Matters?</a:t>
            </a:r>
            <a:endParaRPr sz="1300" b="1" i="0">
              <a:latin typeface="Noto Sans CJK SC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156448" y="5230368"/>
            <a:ext cx="3127248" cy="493776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rm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Noto Sans CJK SC"/>
              </a:rPr>
              <a:t>这样得到的不只是“谁跑通了”，而是“谁在同等约束下更稳定、更省、更可解释”。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446520"/>
            <a:ext cx="7132320" cy="164592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Noto Sans CJK SC"/>
              </a:rPr>
              <a:t>Agent Benchmarking for Bioinformatics Workflows</a:t>
            </a:r>
            <a:endParaRPr sz="900" b="0" i="0">
              <a:latin typeface="Noto Sans CJK SC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972800" y="6400800"/>
            <a:ext cx="548640" cy="20116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Noto Sans CJK SC"/>
              </a:rPr>
              <a:t>4</a:t>
            </a:r>
            <a:endParaRPr sz="1100" b="0" i="0">
              <a:latin typeface="Noto Sans CJK S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0789920" cy="621792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2200" b="1" i="0">
                <a:solidFill>
                  <a:srgbClr val="0F172A"/>
                </a:solidFill>
                <a:latin typeface="Noto Sans CJK SC"/>
              </a:rPr>
              <a:t>Evaluation Metrics and Expected Contributions</a:t>
            </a:r>
            <a:endParaRPr sz="2200" b="1" i="0">
              <a:latin typeface="Noto Sans CJK SC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786384"/>
            <a:ext cx="11064240" cy="2743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1280160"/>
            <a:ext cx="3401568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280160"/>
            <a:ext cx="73152" cy="84124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3145536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Noto Sans CJK SC"/>
              </a:rPr>
              <a:t>Task success</a:t>
            </a:r>
            <a:endParaRPr sz="1200" b="1" i="0">
              <a:latin typeface="Noto Sans CJK S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1682496"/>
            <a:ext cx="3145536" cy="347472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Noto Sans CJK SC"/>
              </a:rPr>
              <a:t>step-level / end-to-end 完成率</a:t>
            </a:r>
            <a:endParaRPr sz="1000" b="0" i="0">
              <a:latin typeface="Noto Sans CJK SC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352544" y="1280160"/>
            <a:ext cx="3401568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52544" y="1280160"/>
            <a:ext cx="73152" cy="841248"/>
          </a:xfrm>
          <a:prstGeom prst="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17136" y="1371600"/>
            <a:ext cx="3145536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Noto Sans CJK SC"/>
              </a:rPr>
              <a:t>Output quality</a:t>
            </a:r>
            <a:endParaRPr sz="1200" b="1" i="0">
              <a:latin typeface="Noto Sans CJK S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17136" y="1682496"/>
            <a:ext cx="3145536" cy="347472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Noto Sans CJK SC"/>
              </a:rPr>
              <a:t>结果完整性、约束满足、文件正确性</a:t>
            </a:r>
            <a:endParaRPr sz="1000" b="0" i="0">
              <a:latin typeface="Noto Sans CJK SC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046720" y="1280160"/>
            <a:ext cx="3401568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280160"/>
            <a:ext cx="73152" cy="841248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2" y="1371600"/>
            <a:ext cx="3145536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Noto Sans CJK SC"/>
              </a:rPr>
              <a:t>Token &amp; cost</a:t>
            </a:r>
            <a:endParaRPr sz="1200" b="1" i="0">
              <a:latin typeface="Noto Sans CJK SC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11312" y="1682496"/>
            <a:ext cx="3145536" cy="347472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Noto Sans CJK SC"/>
              </a:rPr>
              <a:t>prompt / completion / tool / judge 成本</a:t>
            </a:r>
            <a:endParaRPr sz="1000" b="0" i="0">
              <a:latin typeface="Noto Sans CJK SC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58368" y="2359152"/>
            <a:ext cx="3401568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359152"/>
            <a:ext cx="73152" cy="841248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2450592"/>
            <a:ext cx="3145536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Noto Sans CJK SC"/>
              </a:rPr>
              <a:t>Latency &amp; I/O</a:t>
            </a:r>
            <a:endParaRPr sz="1200" b="1" i="0">
              <a:latin typeface="Noto Sans CJK SC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22960" y="2761488"/>
            <a:ext cx="3145536" cy="347472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Noto Sans CJK SC"/>
              </a:rPr>
              <a:t>wall-clock、冷启动、I/O 扫描开销</a:t>
            </a:r>
            <a:endParaRPr sz="1000" b="0" i="0">
              <a:latin typeface="Noto Sans CJK SC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352544" y="2359152"/>
            <a:ext cx="3401568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52544" y="2359152"/>
            <a:ext cx="73152" cy="841248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17136" y="2450592"/>
            <a:ext cx="3145536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Noto Sans CJK SC"/>
              </a:rPr>
              <a:t>Recovery</a:t>
            </a:r>
            <a:endParaRPr sz="1200" b="1" i="0">
              <a:latin typeface="Noto Sans CJK SC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517136" y="2761488"/>
            <a:ext cx="3145536" cy="347472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Noto Sans CJK SC"/>
              </a:rPr>
              <a:t>失败诊断、重试次数、回滚能力</a:t>
            </a:r>
            <a:endParaRPr sz="1000" b="0" i="0">
              <a:latin typeface="Noto Sans CJK SC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8046720" y="2359152"/>
            <a:ext cx="3401568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46720" y="2359152"/>
            <a:ext cx="73152" cy="841248"/>
          </a:xfrm>
          <a:prstGeom prst="rect">
            <a:avLst/>
          </a:prstGeom>
          <a:solidFill>
            <a:srgbClr val="7E22CE"/>
          </a:solidFill>
          <a:ln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11312" y="2450592"/>
            <a:ext cx="3145536" cy="29260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Noto Sans CJK SC"/>
              </a:rPr>
              <a:t>Reproducibility</a:t>
            </a:r>
            <a:endParaRPr sz="1200" b="1" i="0">
              <a:latin typeface="Noto Sans CJK SC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211312" y="2761488"/>
            <a:ext cx="3145536" cy="347472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Noto Sans CJK SC"/>
              </a:rPr>
              <a:t>同环境复现、一致日志与可审计报告</a:t>
            </a:r>
            <a:endParaRPr sz="1000" b="0" i="0">
              <a:latin typeface="Noto Sans CJK SC"/>
            </a:endParaRPr>
          </a:p>
        </p:txBody>
      </p:sp>
      <p:graphicFrame>
        <p:nvGraphicFramePr>
          <p:cNvPr id="28" name="Chart 27"/>
          <p:cNvGraphicFramePr>
            <a:graphicFrameLocks noGrp="1"/>
          </p:cNvGraphicFramePr>
          <p:nvPr/>
        </p:nvGraphicFramePr>
        <p:xfrm>
          <a:off x="804672" y="3749039"/>
          <a:ext cx="4434840" cy="187451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9" name="Rounded Rectangle 28"/>
          <p:cNvSpPr/>
          <p:nvPr/>
        </p:nvSpPr>
        <p:spPr>
          <a:xfrm>
            <a:off x="5504688" y="3611880"/>
            <a:ext cx="5577840" cy="2148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42432" y="3803904"/>
            <a:ext cx="4937760" cy="329184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 i="0">
                <a:solidFill>
                  <a:srgbClr val="1E40AF"/>
                </a:solidFill>
                <a:latin typeface="Noto Sans CJK SC"/>
              </a:rPr>
              <a:t>本项目的预期贡献</a:t>
            </a:r>
            <a:endParaRPr sz="1600" b="1" i="0">
              <a:latin typeface="Noto Sans CJK SC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650992" y="4169663"/>
            <a:ext cx="5074920" cy="1463040"/>
          </a:xfrm>
          <a:prstGeom prst="rect">
            <a:avLst/>
          </a:prstGeom>
          <a:noFill/>
        </p:spPr>
        <p:txBody>
          <a:bodyPr wrap="square" anchor="t" lIns="50800" rIns="25400" tIns="25400" bIns="12700">
            <a:noAutofit/>
          </a:bodyPr>
          <a:lstStyle/>
          <a:p>
            <a:pPr algn="l">
              <a:spcAft>
                <a:spcPts val="600"/>
              </a:spcAft>
              <a:defRPr sz="1320">
                <a:solidFill>
                  <a:srgbClr val="0F172A"/>
                </a:solidFill>
                <a:latin typeface="Noto Sans CJK SC"/>
              </a:defRPr>
            </a:pPr>
            <a:r>
              <a:rPr sz="1300" b="0" i="0">
                <a:latin typeface="Noto Sans CJK SC"/>
              </a:rPr>
              <a:t>提出 workflow-level 的 fair comparison 协议，而不仅是 task-level 对比。</a:t>
            </a:r>
            <a:endParaRPr sz="1300" b="0" i="0">
              <a:latin typeface="Noto Sans CJK SC"/>
            </a:endParaRPr>
          </a:p>
          <a:p>
            <a:pPr algn="l">
              <a:spcAft>
                <a:spcPts val="600"/>
              </a:spcAft>
              <a:defRPr sz="1320">
                <a:solidFill>
                  <a:srgbClr val="0F172A"/>
                </a:solidFill>
                <a:latin typeface="Noto Sans CJK SC"/>
              </a:defRPr>
            </a:pPr>
            <a:r>
              <a:rPr sz="1300" b="0" i="0">
                <a:latin typeface="Noto Sans CJK SC"/>
              </a:rPr>
              <a:t>把 bioinformatics workflow 拆解为 skill，使 agent 执行过程可控、可记录、可归因。</a:t>
            </a:r>
            <a:endParaRPr sz="1300" b="0" i="0">
              <a:latin typeface="Noto Sans CJK SC"/>
            </a:endParaRPr>
          </a:p>
          <a:p>
            <a:pPr algn="l">
              <a:spcAft>
                <a:spcPts val="600"/>
              </a:spcAft>
              <a:defRPr sz="1320">
                <a:solidFill>
                  <a:srgbClr val="0F172A"/>
                </a:solidFill>
                <a:latin typeface="Noto Sans CJK SC"/>
              </a:defRPr>
            </a:pPr>
            <a:r>
              <a:rPr sz="1300" b="0" i="0">
                <a:latin typeface="Noto Sans CJK SC"/>
              </a:rPr>
              <a:t>同时报告 success、quality、token/cost、latency、I/O 与 recovery，形成更完整的 benchmark。</a:t>
            </a:r>
            <a:endParaRPr sz="1300" b="0" i="0">
              <a:latin typeface="Noto Sans CJK SC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48640" y="6446520"/>
            <a:ext cx="7132320" cy="164592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Noto Sans CJK SC"/>
              </a:rPr>
              <a:t>Agent Benchmarking for Bioinformatics Workflows</a:t>
            </a:r>
            <a:endParaRPr sz="900" b="0" i="0">
              <a:latin typeface="Noto Sans CJK SC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972800" y="6400800"/>
            <a:ext cx="548640" cy="201168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Noto Sans CJK SC"/>
              </a:rPr>
              <a:t>5</a:t>
            </a:r>
            <a:endParaRPr sz="1100" b="0" i="0">
              <a:latin typeface="Noto Sans CJK S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